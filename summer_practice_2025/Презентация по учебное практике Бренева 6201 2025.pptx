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sldIdLst>
    <p:sldId id="289" r:id="rId2"/>
    <p:sldId id="285" r:id="rId3"/>
    <p:sldId id="292" r:id="rId4"/>
    <p:sldId id="294" r:id="rId5"/>
    <p:sldId id="293" r:id="rId6"/>
    <p:sldId id="295" r:id="rId7"/>
    <p:sldId id="297" r:id="rId8"/>
    <p:sldId id="298" r:id="rId9"/>
    <p:sldId id="299" r:id="rId10"/>
    <p:sldId id="300" r:id="rId11"/>
    <p:sldId id="302" r:id="rId12"/>
    <p:sldId id="291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ый слайд презентации" id="{A45BF7F8-D66E-4CE1-A666-8EBAC006C350}">
          <p14:sldIdLst>
            <p14:sldId id="289"/>
          </p14:sldIdLst>
        </p14:section>
        <p14:section name="Слайды презентации" id="{9DA68CF4-FCCC-4662-ABE9-17A6572EE01D}">
          <p14:sldIdLst>
            <p14:sldId id="285"/>
            <p14:sldId id="292"/>
            <p14:sldId id="294"/>
            <p14:sldId id="293"/>
            <p14:sldId id="295"/>
            <p14:sldId id="297"/>
            <p14:sldId id="298"/>
            <p14:sldId id="299"/>
            <p14:sldId id="300"/>
            <p14:sldId id="302"/>
            <p14:sldId id="291"/>
          </p14:sldIdLst>
        </p14:section>
        <p14:section name="Последний слайд" id="{56484599-CAB5-4B35-8FB9-ECF376C84423}">
          <p14:sldIdLst/>
        </p14:section>
        <p14:section name="Примеры слайдов" id="{52997854-445F-4590-854E-6599E0B084F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E6E6E6"/>
    <a:srgbClr val="EAEA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79" d="100"/>
          <a:sy n="79" d="100"/>
        </p:scale>
        <p:origin x="1570" y="67"/>
      </p:cViewPr>
      <p:guideLst>
        <p:guide orient="horz" pos="2160"/>
        <p:guide pos="38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6C68-DDAB-4D09-8E72-8E937BD7768C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8289E-2F4B-4BDB-9E3D-307BE649A8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7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986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075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3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310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0516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151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079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9402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766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542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48289E-2F4B-4BDB-9E3D-307BE649A8B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986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2006A-6BE7-43E8-8AD6-C09FC266B36F}" type="datetime1">
              <a:rPr lang="ru-RU" smtClean="0"/>
              <a:t>26.06.2025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84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3183-B2A1-4784-80CE-65A33D52CB0B}" type="datetime1">
              <a:rPr lang="ru-RU" smtClean="0"/>
              <a:t>26.06.2025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8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388E9-D2C3-4436-BFEE-5F0C2E0896FE}" type="datetime1">
              <a:rPr lang="ru-RU" smtClean="0"/>
              <a:t>26.06.2025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74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5BC7-66CE-44BA-84C4-ADF5D358A8E5}" type="datetime1">
              <a:rPr lang="ru-RU" smtClean="0"/>
              <a:t>26.06.2025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0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F641-8A7B-48BB-9924-29525D09D843}" type="datetime1">
              <a:rPr lang="ru-RU" smtClean="0"/>
              <a:t>26.06.2025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41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CC1A-CDB1-4CBC-83A8-3EB958439194}" type="datetime1">
              <a:rPr lang="ru-RU" smtClean="0"/>
              <a:t>26.06.2025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extBox 6"/>
          <p:cNvSpPr txBox="1"/>
          <p:nvPr userDrawn="1"/>
        </p:nvSpPr>
        <p:spPr>
          <a:xfrm>
            <a:off x="7218294" y="6021288"/>
            <a:ext cx="1566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BF16142-48E7-436E-9D22-3C64D2802E5D}" type="slidenum">
              <a:rPr lang="ru-RU" smtClean="0"/>
              <a:t>‹#›</a:t>
            </a:fld>
            <a:r>
              <a:rPr lang="ru-RU" dirty="0"/>
              <a:t> слайд из </a:t>
            </a:r>
          </a:p>
        </p:txBody>
      </p:sp>
    </p:spTree>
    <p:extLst>
      <p:ext uri="{BB962C8B-B14F-4D97-AF65-F5344CB8AC3E}">
        <p14:creationId xmlns:p14="http://schemas.microsoft.com/office/powerpoint/2010/main" val="26661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C5F1-78C0-4305-B0EC-8CEF047F6C93}" type="datetime1">
              <a:rPr lang="ru-RU" smtClean="0"/>
              <a:t>26.06.2025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4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670FB-17C0-4434-90C8-A4668EF13565}" type="datetime1">
              <a:rPr lang="ru-RU" smtClean="0"/>
              <a:t>26.06.2025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24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5D1FD-3FC4-47EA-B2EB-FF46800F6009}" type="datetime1">
              <a:rPr lang="ru-RU" smtClean="0"/>
              <a:t>26.06.2025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027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D85EE-4AB9-42CD-8126-E74FE77A9ED8}" type="datetime1">
              <a:rPr lang="ru-RU" smtClean="0"/>
              <a:t>26.06.2025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3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B916C-83BE-4CC1-8A21-D05CD30C43DB}" type="datetime1">
              <a:rPr lang="ru-RU" smtClean="0"/>
              <a:t>26.06.2025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18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09404-ED28-47FE-9DC5-C6BCEA110D1D}" type="datetime1">
              <a:rPr lang="ru-RU" smtClean="0"/>
              <a:t>26.06.2025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0F9EB-2112-4866-8AFC-0758B0B74D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6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19" y="548679"/>
            <a:ext cx="8640959" cy="1296313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2951820" y="548679"/>
            <a:ext cx="5805000" cy="5904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58" y="2061016"/>
            <a:ext cx="7920882" cy="1512000"/>
          </a:xfrm>
          <a:noFill/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ru-RU" sz="1800" b="1" cap="all" dirty="0">
                <a:latin typeface="Elektra Text Pro" panose="02000503030000020004" pitchFamily="50" charset="-52"/>
              </a:rPr>
              <a:t>Название презентации: </a:t>
            </a:r>
            <a:br>
              <a:rPr lang="ru-RU" sz="1800" b="1" cap="all" dirty="0">
                <a:latin typeface="Elektra Text Pro" panose="02000503030000020004" pitchFamily="50" charset="-52"/>
              </a:rPr>
            </a:br>
            <a:r>
              <a:rPr lang="ru-RU" sz="1800" b="1" dirty="0">
                <a:latin typeface="Elektra Text Pro" panose="02000503030000020004"/>
                <a:ea typeface="Calibri" panose="020F0502020204030204" pitchFamily="34" charset="0"/>
              </a:rPr>
              <a:t>РАЗРАБОТКА ВЕБ-ПРИЛОЖЕНИЯ ДЛЯ АВТОМАТИЗАЦИИ </a:t>
            </a:r>
            <a:r>
              <a:rPr lang="ru-RU" sz="1800" b="1" dirty="0" smtClean="0">
                <a:latin typeface="Elektra Text Pro" panose="02000503030000020004"/>
                <a:ea typeface="Calibri" panose="020F0502020204030204" pitchFamily="34" charset="0"/>
              </a:rPr>
              <a:t>УЧЕБНЫХ ОНЛАЙН И ОФЛАЙН ПРОЦЕССОВ </a:t>
            </a:r>
            <a:r>
              <a:rPr lang="ru-RU" sz="1800" b="1" dirty="0">
                <a:latin typeface="Elektra Text Pro" panose="02000503030000020004"/>
                <a:ea typeface="Calibri" panose="020F0502020204030204" pitchFamily="34" charset="0"/>
              </a:rPr>
              <a:t>В УЧРЕЖДЕНИЯХ ДОПОЛНИТЕЛЬНОГО ОБРАЗОВАНИЯ</a:t>
            </a:r>
            <a:endParaRPr lang="ru-RU" sz="1800" b="1" cap="all" dirty="0">
              <a:latin typeface="Elektra Text Pro" panose="02000503030000020004"/>
            </a:endParaRP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611558" y="3520595"/>
            <a:ext cx="7920880" cy="432048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dirty="0">
                <a:latin typeface="Elektra Text Pro"/>
              </a:rPr>
              <a:t>Научно-исследовательская работа бакалавра (получение первичных навыков научно-исследовательской работы)</a:t>
            </a: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3851920" y="4293096"/>
            <a:ext cx="4680520" cy="158417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08138" indent="-1076325" defTabSz="356615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400" dirty="0">
                <a:solidFill>
                  <a:srgbClr val="000000"/>
                </a:solidFill>
                <a:latin typeface="Elektra Text Pro"/>
              </a:rPr>
              <a:t>Выполнил</a:t>
            </a:r>
            <a:r>
              <a:rPr lang="en-US" sz="1400" dirty="0">
                <a:solidFill>
                  <a:srgbClr val="000000"/>
                </a:solidFill>
                <a:latin typeface="Elektra Text Pro"/>
              </a:rPr>
              <a:t>:</a:t>
            </a:r>
            <a:r>
              <a:rPr lang="ru-RU" sz="1400" dirty="0">
                <a:solidFill>
                  <a:srgbClr val="000000"/>
                </a:solidFill>
                <a:latin typeface="Elektra Text Pro"/>
              </a:rPr>
              <a:t>	студент </a:t>
            </a:r>
            <a:r>
              <a:rPr lang="ru-RU" sz="1400" dirty="0" smtClean="0">
                <a:solidFill>
                  <a:srgbClr val="000000"/>
                </a:solidFill>
                <a:latin typeface="Elektra Text Pro"/>
              </a:rPr>
              <a:t>6201-020302</a:t>
            </a:r>
            <a:r>
              <a:rPr lang="en-US" sz="1400" dirty="0">
                <a:solidFill>
                  <a:srgbClr val="000000"/>
                </a:solidFill>
                <a:latin typeface="Elektra Text Pro"/>
              </a:rPr>
              <a:t>D</a:t>
            </a:r>
            <a:r>
              <a:rPr lang="ru-RU" sz="1400" dirty="0">
                <a:solidFill>
                  <a:srgbClr val="000000"/>
                </a:solidFill>
                <a:latin typeface="Elektra Text Pro"/>
              </a:rPr>
              <a:t/>
            </a:r>
            <a:br>
              <a:rPr lang="ru-RU" sz="1400" dirty="0">
                <a:solidFill>
                  <a:srgbClr val="000000"/>
                </a:solidFill>
                <a:latin typeface="Elektra Text Pro"/>
              </a:rPr>
            </a:br>
            <a:r>
              <a:rPr lang="ru-RU" sz="1400" dirty="0" smtClean="0">
                <a:solidFill>
                  <a:srgbClr val="000000"/>
                </a:solidFill>
                <a:latin typeface="Elektra Text Pro"/>
              </a:rPr>
              <a:t>Бренева В.А.</a:t>
            </a:r>
            <a:endParaRPr lang="ru-RU" sz="1400" dirty="0">
              <a:solidFill>
                <a:srgbClr val="000000"/>
              </a:solidFill>
              <a:latin typeface="Elektra Text Pro"/>
            </a:endParaRPr>
          </a:p>
          <a:p>
            <a:pPr marL="1608138" indent="-1076325">
              <a:spcBef>
                <a:spcPts val="0"/>
              </a:spcBef>
              <a:buNone/>
              <a:defRPr sz="1800">
                <a:solidFill>
                  <a:srgbClr val="000000"/>
                </a:solidFill>
              </a:defRPr>
            </a:pPr>
            <a:r>
              <a:rPr lang="ru-RU" sz="1400" dirty="0">
                <a:solidFill>
                  <a:srgbClr val="000000"/>
                </a:solidFill>
                <a:latin typeface="Elektra Text Pro"/>
              </a:rPr>
              <a:t>Научный руководитель: </a:t>
            </a:r>
            <a:r>
              <a:rPr lang="ru-RU" sz="1400" b="0" i="0" dirty="0">
                <a:solidFill>
                  <a:srgbClr val="1A1A1A"/>
                </a:solidFill>
                <a:effectLst/>
                <a:latin typeface="Elektra Text Pro" panose="02000503030000020004"/>
              </a:rPr>
              <a:t>доцент кафедры программных систем, к.т.н., доцент Д. А. Попова-</a:t>
            </a:r>
            <a:r>
              <a:rPr lang="ru-RU" sz="1400" b="0" i="0" dirty="0" err="1">
                <a:solidFill>
                  <a:srgbClr val="1A1A1A"/>
                </a:solidFill>
                <a:effectLst/>
                <a:latin typeface="Elektra Text Pro" panose="02000503030000020004"/>
              </a:rPr>
              <a:t>Коварцева</a:t>
            </a:r>
            <a:r>
              <a:rPr lang="ru-RU" sz="1400" dirty="0">
                <a:solidFill>
                  <a:srgbClr val="000000"/>
                </a:solidFill>
                <a:highlight>
                  <a:srgbClr val="FFFF00"/>
                </a:highlight>
                <a:latin typeface="Elektra Text Pro"/>
              </a:rPr>
              <a:t>	</a:t>
            </a: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331640" y="1160748"/>
            <a:ext cx="6480719" cy="540060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  <a:t>Институт информатики и кибернетики</a:t>
            </a:r>
            <a:b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</a:b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  <a:t>Кафедра программных систем </a:t>
            </a: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2411761" y="6093296"/>
            <a:ext cx="4320480" cy="50405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  <a:t>Самара </a:t>
            </a:r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/>
              </a:rPr>
              <a:t>2025</a:t>
            </a:r>
            <a:endParaRPr lang="ru-RU" sz="1400" b="1" dirty="0">
              <a:solidFill>
                <a:schemeClr val="tx1">
                  <a:lumMod val="95000"/>
                  <a:lumOff val="5000"/>
                </a:schemeClr>
              </a:solidFill>
              <a:latin typeface="Elektra Text Pro"/>
            </a:endParaRPr>
          </a:p>
        </p:txBody>
      </p:sp>
      <p:pic>
        <p:nvPicPr>
          <p:cNvPr id="3074" name="Picture 2" descr="D:\DOCUM\!_КСЭ\СГАУ\Кафедра\2022_Презентация\logo_osnovnoy_goriz_RUS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820" y="683129"/>
            <a:ext cx="2985120" cy="47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947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55605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Elektra Text Pro"/>
                <a:cs typeface="Arial" pitchFamily="34" charset="0"/>
              </a:rPr>
              <a:t>ПОСТАНОВКА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000" cy="46100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Цель работы:</a:t>
            </a:r>
          </a:p>
          <a:p>
            <a:pPr marL="0" indent="0">
              <a:buNone/>
            </a:pPr>
            <a:r>
              <a:rPr lang="ru-RU" sz="1800" dirty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веб-приложения для автоматизации учебных онлайн и офлайн процессов в учреждениях дополнительного образования</a:t>
            </a:r>
          </a:p>
          <a:p>
            <a:pPr marL="0" indent="0">
              <a:buNone/>
            </a:pPr>
            <a:endParaRPr lang="ru-RU" sz="1800" dirty="0">
              <a:effectLst/>
              <a:latin typeface="Elektra Text Pro" panose="020005030300000200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Задачи:</a:t>
            </a:r>
          </a:p>
          <a:p>
            <a:pPr>
              <a:buFont typeface="Calibri" panose="020F0502020204030204" pitchFamily="34" charset="0"/>
              <a:buChar char="⁻"/>
            </a:pPr>
            <a:r>
              <a:rPr lang="ru-RU" sz="1800" dirty="0">
                <a:latin typeface="Elektra Text Pro" panose="02000503030000020004"/>
              </a:rPr>
              <a:t>изучить предметную область;</a:t>
            </a:r>
          </a:p>
          <a:p>
            <a:pPr>
              <a:buFont typeface="Calibri" panose="020F0502020204030204" pitchFamily="34" charset="0"/>
              <a:buChar char="⁻"/>
            </a:pPr>
            <a:r>
              <a:rPr lang="ru-RU" sz="1800" dirty="0">
                <a:latin typeface="Elektra Text Pro" panose="02000503030000020004"/>
              </a:rPr>
              <a:t>изучить методы, технологии, алгоритмы и методики, значимые для рассматриваемой предметной области;</a:t>
            </a:r>
          </a:p>
          <a:p>
            <a:pPr>
              <a:buFont typeface="Calibri" panose="020F0502020204030204" pitchFamily="34" charset="0"/>
              <a:buChar char="⁻"/>
            </a:pPr>
            <a:r>
              <a:rPr lang="ru-RU" sz="1800" dirty="0">
                <a:latin typeface="Elektra Text Pro" panose="02000503030000020004"/>
              </a:rPr>
              <a:t>провести анализ актуальности выбранной задачи;</a:t>
            </a:r>
          </a:p>
          <a:p>
            <a:pPr>
              <a:buFont typeface="Calibri" panose="020F0502020204030204" pitchFamily="34" charset="0"/>
              <a:buChar char="⁻"/>
            </a:pPr>
            <a:r>
              <a:rPr lang="ru-RU" sz="1800" dirty="0">
                <a:latin typeface="Elektra Text Pro" panose="02000503030000020004"/>
              </a:rPr>
              <a:t>рассмотреть системы-аналоги;</a:t>
            </a:r>
          </a:p>
          <a:p>
            <a:pPr>
              <a:buFont typeface="Calibri" panose="020F0502020204030204" pitchFamily="34" charset="0"/>
              <a:buChar char="⁻"/>
            </a:pPr>
            <a:r>
              <a:rPr lang="ru-RU" sz="1800" dirty="0">
                <a:latin typeface="Elektra Text Pro" panose="02000503030000020004"/>
              </a:rPr>
              <a:t>составить список функций разрабатываемого приложения;</a:t>
            </a:r>
          </a:p>
          <a:p>
            <a:pPr>
              <a:buFont typeface="Calibri" panose="020F0502020204030204" pitchFamily="34" charset="0"/>
              <a:buChar char="⁻"/>
            </a:pPr>
            <a:r>
              <a:rPr lang="ru-RU" sz="1800" dirty="0">
                <a:latin typeface="Elektra Text Pro" panose="02000503030000020004"/>
              </a:rPr>
              <a:t>произвести выбор архитектуры разрабатываемой системы и средств реализации.</a:t>
            </a:r>
            <a:endParaRPr lang="ru-RU" sz="1800" dirty="0">
              <a:effectLst/>
              <a:latin typeface="Elektra Text Pro" panose="020005030300000200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8172400" y="6165306"/>
            <a:ext cx="70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2</a:t>
            </a:fld>
            <a:r>
              <a:rPr lang="ru-RU" dirty="0"/>
              <a:t>/</a:t>
            </a:r>
            <a:r>
              <a:rPr lang="en-US" dirty="0" smtClean="0"/>
              <a:t>1</a:t>
            </a:r>
            <a:r>
              <a:rPr lang="ru-RU" dirty="0"/>
              <a:t>2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 smtClean="0">
                <a:solidFill>
                  <a:schemeClr val="bg1">
                    <a:lumMod val="50000"/>
                  </a:schemeClr>
                </a:solidFill>
                <a:latin typeface="Elektra Text Pro" panose="02000503030000020004"/>
                <a:ea typeface="Calibri" panose="020F0502020204030204" pitchFamily="34" charset="0"/>
              </a:rPr>
              <a:t>Разработка веб-приложения для автоматизации учебных онлайн и офлайн процессов в учреждениях дополнительного образования</a:t>
            </a:r>
            <a:endParaRPr lang="ru-RU" sz="1400" dirty="0">
              <a:solidFill>
                <a:schemeClr val="bg1">
                  <a:lumMod val="50000"/>
                </a:schemeClr>
              </a:solidFill>
              <a:latin typeface="Elektra Text Pro" panose="02000503030000020004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04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55605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Elektra Text Pro"/>
                <a:cs typeface="Arial" pitchFamily="34" charset="0"/>
              </a:rPr>
              <a:t>ОПИСАНИЕ ПРЕДМЕТНОЙ ОБЛАСТИ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268760"/>
            <a:ext cx="5688632" cy="46100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>
                <a:latin typeface="Elektra Text Pro" panose="02000503030000020004"/>
              </a:rPr>
              <a:t>Автоматизация учебного процесса – </a:t>
            </a:r>
            <a:r>
              <a:rPr lang="ru-RU" sz="1800" dirty="0">
                <a:latin typeface="Elektra Text Pro" panose="02000503030000020004"/>
              </a:rPr>
              <a:t>это комплекс программных решений, направленных на оптимизацию организации, проведения и контроля образовательной деятельности. Включает управление расписанием, материалами, заданиями и аналитикой успеваемости</a:t>
            </a:r>
            <a:r>
              <a:rPr lang="ru-RU" sz="1800" dirty="0" smtClean="0">
                <a:latin typeface="Elektra Text Pro" panose="02000503030000020004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b="1" dirty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Веб-приложение для образования – </a:t>
            </a:r>
            <a:r>
              <a:rPr lang="ru-RU" sz="1800" dirty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это облачная платформа, обеспечивающая</a:t>
            </a:r>
            <a:r>
              <a:rPr lang="ru-RU" sz="1800" dirty="0" smtClean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800" dirty="0">
              <a:latin typeface="Elektra Text Pro" panose="020005030300000200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̶"/>
            </a:pPr>
            <a:r>
              <a:rPr lang="ru-RU" sz="1800" dirty="0" smtClean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централизованное </a:t>
            </a:r>
            <a:r>
              <a:rPr lang="ru-RU" sz="1800" dirty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хранение учебных </a:t>
            </a:r>
            <a:r>
              <a:rPr lang="ru-RU" sz="1800" dirty="0" smtClean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материалов;</a:t>
            </a:r>
            <a:endParaRPr lang="ru-RU" sz="1800" dirty="0">
              <a:latin typeface="Elektra Text Pro" panose="020005030300000200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̶"/>
            </a:pPr>
            <a:r>
              <a:rPr lang="ru-RU" sz="1800" dirty="0" smtClean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интерактивные </a:t>
            </a:r>
            <a:r>
              <a:rPr lang="ru-RU" sz="1800" dirty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инструменты для преподавателей и </a:t>
            </a:r>
            <a:r>
              <a:rPr lang="ru-RU" sz="1800" dirty="0" smtClean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учащихся;</a:t>
            </a:r>
            <a:endParaRPr lang="ru-RU" sz="1800" dirty="0">
              <a:latin typeface="Elektra Text Pro" panose="020005030300000200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̶"/>
            </a:pPr>
            <a:r>
              <a:rPr lang="ru-RU" sz="1800" dirty="0" smtClean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интеграцию </a:t>
            </a:r>
            <a:r>
              <a:rPr lang="ru-RU" sz="1800" dirty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с внешними образовательными </a:t>
            </a:r>
            <a:r>
              <a:rPr lang="ru-RU" sz="1800" dirty="0" smtClean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сервисами;</a:t>
            </a:r>
            <a:endParaRPr lang="ru-RU" sz="1800" dirty="0">
              <a:latin typeface="Elektra Text Pro" panose="020005030300000200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̶"/>
            </a:pPr>
            <a:r>
              <a:rPr lang="ru-RU" sz="1800" dirty="0" smtClean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мульти платформенный </a:t>
            </a:r>
            <a:r>
              <a:rPr lang="ru-RU" sz="1800" dirty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доступ (ПК, планшеты, </a:t>
            </a:r>
            <a:r>
              <a:rPr lang="ru-RU" sz="1800" dirty="0" smtClean="0">
                <a:latin typeface="Elektra Text Pro" panose="02000503030000020004"/>
                <a:ea typeface="Calibri" panose="020F0502020204030204" pitchFamily="34" charset="0"/>
                <a:cs typeface="Times New Roman" panose="02020603050405020304" pitchFamily="18" charset="0"/>
              </a:rPr>
              <a:t>смартфоны).</a:t>
            </a:r>
            <a:endParaRPr lang="ru-RU" sz="1800" dirty="0">
              <a:latin typeface="Elektra Text Pro" panose="020005030300000200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72400" y="6165306"/>
            <a:ext cx="70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3</a:t>
            </a:fld>
            <a:r>
              <a:rPr lang="ru-RU" dirty="0"/>
              <a:t>/</a:t>
            </a:r>
            <a:r>
              <a:rPr lang="en-US" dirty="0" smtClean="0"/>
              <a:t>1</a:t>
            </a:r>
            <a:r>
              <a:rPr lang="ru-RU" dirty="0"/>
              <a:t>2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Elektra Text Pro" panose="02000503030000020004"/>
                <a:ea typeface="Calibri" panose="020F0502020204030204" pitchFamily="34" charset="0"/>
              </a:rPr>
              <a:t>Разработка веб-приложения для автоматизации учебных онлайн и офлайн процессов в учреждениях дополнительного образования</a:t>
            </a:r>
          </a:p>
        </p:txBody>
      </p:sp>
      <p:pic>
        <p:nvPicPr>
          <p:cNvPr id="4" name="Picture 2" descr="Автоматизация образования — Блог Comindwa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988840"/>
            <a:ext cx="2915122" cy="349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602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36751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Elektra Text Pro"/>
                <a:cs typeface="Arial" pitchFamily="34" charset="0"/>
              </a:rPr>
              <a:t>АНАЛИЗ СИСТЕМ-АНАЛОГОВ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2400" y="6165306"/>
            <a:ext cx="70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4</a:t>
            </a:fld>
            <a:r>
              <a:rPr lang="ru-RU" dirty="0"/>
              <a:t>/</a:t>
            </a:r>
            <a:r>
              <a:rPr lang="en-US" dirty="0" smtClean="0"/>
              <a:t>1</a:t>
            </a:r>
            <a:r>
              <a:rPr lang="ru-RU" dirty="0"/>
              <a:t>2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Elektra Text Pro" panose="02000503030000020004"/>
                <a:ea typeface="Calibri" panose="020F0502020204030204" pitchFamily="34" charset="0"/>
              </a:rPr>
              <a:t>Разработка веб-приложения для автоматизации учебных онлайн и офлайн процессов в учреждениях дополнительного образования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9322A-E361-4159-B278-0FC47C524EFF}"/>
              </a:ext>
            </a:extLst>
          </p:cNvPr>
          <p:cNvSpPr txBox="1"/>
          <p:nvPr/>
        </p:nvSpPr>
        <p:spPr>
          <a:xfrm>
            <a:off x="251519" y="1857597"/>
            <a:ext cx="37444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Elektra Text Pro" panose="02000503030000020004"/>
              </a:rPr>
              <a:t>1</a:t>
            </a:r>
            <a:r>
              <a:rPr lang="ru-RU" dirty="0" smtClean="0">
                <a:latin typeface="Elektra Text Pro" panose="02000503030000020004"/>
              </a:rPr>
              <a:t>.</a:t>
            </a:r>
            <a:r>
              <a:rPr lang="en-US" dirty="0" smtClean="0">
                <a:latin typeface="Elektra Text Pro" panose="02000503030000020004"/>
              </a:rPr>
              <a:t>    </a:t>
            </a:r>
            <a:r>
              <a:rPr lang="ru-RU" dirty="0" smtClean="0">
                <a:latin typeface="Elektra Text Pro" panose="02000503030000020004"/>
              </a:rPr>
              <a:t>«</a:t>
            </a:r>
            <a:r>
              <a:rPr lang="en-US" dirty="0" smtClean="0">
                <a:latin typeface="Elektra Text Pro" panose="02000503030000020004"/>
              </a:rPr>
              <a:t>Google Classroom</a:t>
            </a:r>
            <a:r>
              <a:rPr lang="ru-RU" dirty="0" smtClean="0">
                <a:latin typeface="Elektra Text Pro" panose="02000503030000020004"/>
              </a:rPr>
              <a:t>»</a:t>
            </a:r>
            <a:endParaRPr lang="en-US" dirty="0">
              <a:latin typeface="Elektra Text Pro" panose="02000503030000020004"/>
            </a:endParaRPr>
          </a:p>
          <a:p>
            <a:pPr marL="342900" indent="-342900">
              <a:buAutoNum type="arabicPeriod"/>
            </a:pPr>
            <a:endParaRPr lang="en-US" dirty="0">
              <a:latin typeface="Elektra Text Pro" panose="02000503030000020004"/>
            </a:endParaRPr>
          </a:p>
          <a:p>
            <a:r>
              <a:rPr lang="ru-RU" dirty="0">
                <a:latin typeface="Elektra Text Pro" panose="02000503030000020004"/>
              </a:rPr>
              <a:t>Функционал:</a:t>
            </a:r>
            <a:endParaRPr lang="en-US" dirty="0">
              <a:latin typeface="Elektra Text Pro" panose="02000503030000020004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организация </a:t>
            </a: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курсов и учебных </a:t>
            </a: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материалов;</a:t>
            </a:r>
            <a:endParaRPr lang="ru-RU" dirty="0">
              <a:latin typeface="Elektra Text Pro" panose="02000503030000020004"/>
              <a:ea typeface="Calibri" panose="020F0502020204030204" pitchFamily="34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распределение </a:t>
            </a: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заданий и сбор </a:t>
            </a: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работ;</a:t>
            </a:r>
            <a:endParaRPr lang="ru-RU" dirty="0">
              <a:latin typeface="Elektra Text Pro" panose="02000503030000020004"/>
              <a:ea typeface="Calibri" panose="020F0502020204030204" pitchFamily="34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интеграция </a:t>
            </a: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с сервисами </a:t>
            </a:r>
            <a:r>
              <a:rPr lang="ru-RU" dirty="0" err="1">
                <a:latin typeface="Elektra Text Pro" panose="02000503030000020004"/>
                <a:ea typeface="Calibri" panose="020F0502020204030204" pitchFamily="34" charset="0"/>
              </a:rPr>
              <a:t>Google</a:t>
            </a: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 (Документы, Диск, Календарь</a:t>
            </a: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)</a:t>
            </a: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;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система </a:t>
            </a: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оценивания и обратной </a:t>
            </a: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связи.</a:t>
            </a:r>
            <a:endParaRPr lang="ru-RU" sz="1800" dirty="0">
              <a:effectLst/>
              <a:latin typeface="Elektra Text Pro" panose="02000503030000020004"/>
              <a:ea typeface="Times New Roman" panose="02020603050405020304" pitchFamily="18" charset="0"/>
            </a:endParaRPr>
          </a:p>
        </p:txBody>
      </p:sp>
      <p:pic>
        <p:nvPicPr>
          <p:cNvPr id="12" name="Рисунок 11" descr="https://www.ispring.ru/elearning-insights/wp-content/uploads/editor/2021/03/ispring-blog-image-1615804710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772816"/>
            <a:ext cx="4660717" cy="33088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783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55605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Elektra Text Pro"/>
                <a:cs typeface="Arial" pitchFamily="34" charset="0"/>
              </a:rPr>
              <a:t>АНАЛИЗ СИСТЕМ-АНАЛОГОВ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2400" y="6165306"/>
            <a:ext cx="70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5</a:t>
            </a:fld>
            <a:r>
              <a:rPr lang="ru-RU" dirty="0"/>
              <a:t>/</a:t>
            </a:r>
            <a:r>
              <a:rPr lang="en-US" dirty="0" smtClean="0"/>
              <a:t>1</a:t>
            </a:r>
            <a:r>
              <a:rPr lang="ru-RU" dirty="0"/>
              <a:t>2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Elektra Text Pro" panose="02000503030000020004"/>
                <a:ea typeface="Calibri" panose="020F0502020204030204" pitchFamily="34" charset="0"/>
              </a:rPr>
              <a:t>Разработка веб-приложения для автоматизации учебных онлайн и офлайн процессов в учреждениях дополнительного образования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3CD52453-0390-4A64-8138-96BDBAE7D3E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99992" y="2060848"/>
            <a:ext cx="4391528" cy="2486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C9322A-E361-4159-B278-0FC47C524EFF}"/>
              </a:ext>
            </a:extLst>
          </p:cNvPr>
          <p:cNvSpPr txBox="1"/>
          <p:nvPr/>
        </p:nvSpPr>
        <p:spPr>
          <a:xfrm>
            <a:off x="251520" y="2059994"/>
            <a:ext cx="37444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Elektra Text Pro" panose="02000503030000020004"/>
              </a:rPr>
              <a:t>2.    </a:t>
            </a:r>
            <a:r>
              <a:rPr lang="ru-RU" dirty="0" smtClean="0">
                <a:latin typeface="Elektra Text Pro" panose="02000503030000020004"/>
              </a:rPr>
              <a:t>«</a:t>
            </a:r>
            <a:r>
              <a:rPr lang="en-US" dirty="0" smtClean="0">
                <a:latin typeface="Elektra Text Pro" panose="02000503030000020004"/>
              </a:rPr>
              <a:t>Stepik</a:t>
            </a:r>
            <a:r>
              <a:rPr lang="ru-RU" dirty="0" smtClean="0">
                <a:latin typeface="Elektra Text Pro" panose="02000503030000020004"/>
              </a:rPr>
              <a:t>»</a:t>
            </a:r>
            <a:endParaRPr lang="en-US" dirty="0" smtClean="0">
              <a:latin typeface="Elektra Text Pro" panose="02000503030000020004"/>
            </a:endParaRPr>
          </a:p>
          <a:p>
            <a:pPr marL="342900" indent="-342900">
              <a:buAutoNum type="arabicPeriod"/>
            </a:pPr>
            <a:endParaRPr lang="en-US" dirty="0">
              <a:latin typeface="Elektra Text Pro" panose="02000503030000020004"/>
            </a:endParaRPr>
          </a:p>
          <a:p>
            <a:r>
              <a:rPr lang="ru-RU" dirty="0">
                <a:latin typeface="Elektra Text Pro" panose="02000503030000020004"/>
              </a:rPr>
              <a:t>Функционал:</a:t>
            </a: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поддержка </a:t>
            </a: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различных форматов контента (видео, тесты, практические задания</a:t>
            </a: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);</a:t>
            </a:r>
            <a:endParaRPr lang="ru-RU" dirty="0">
              <a:latin typeface="Elektra Text Pro" panose="02000503030000020004"/>
              <a:ea typeface="Calibri" panose="020F0502020204030204" pitchFamily="34" charset="0"/>
            </a:endParaRP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система </a:t>
            </a: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достижений и </a:t>
            </a: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сертификатов;</a:t>
            </a:r>
            <a:endParaRPr lang="ru-RU" dirty="0">
              <a:latin typeface="Elektra Text Pro" panose="02000503030000020004"/>
              <a:ea typeface="Calibri" panose="020F0502020204030204" pitchFamily="34" charset="0"/>
            </a:endParaRPr>
          </a:p>
          <a:p>
            <a:pPr marL="285750" indent="-285750">
              <a:buFont typeface="Symbol" panose="05050102010706020507" pitchFamily="18" charset="2"/>
              <a:buChar char=""/>
            </a:pP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API для интеграции с внешними </a:t>
            </a: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сервисами.</a:t>
            </a:r>
            <a:endParaRPr lang="ru-RU" dirty="0">
              <a:latin typeface="Elektra Text Pro" panose="02000503030000020004"/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4"/>
          <a:stretch>
            <a:fillRect/>
          </a:stretch>
        </p:blipFill>
        <p:spPr>
          <a:xfrm>
            <a:off x="4211960" y="2082908"/>
            <a:ext cx="4660717" cy="270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7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36751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Elektra Text Pro"/>
                <a:cs typeface="Arial" pitchFamily="34" charset="0"/>
              </a:rPr>
              <a:t>АНАЛИЗ СИСТЕМ-АНАЛОГОВ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2400" y="6165306"/>
            <a:ext cx="70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6</a:t>
            </a:fld>
            <a:r>
              <a:rPr lang="ru-RU" dirty="0"/>
              <a:t>/</a:t>
            </a:r>
            <a:r>
              <a:rPr lang="en-US" dirty="0" smtClean="0"/>
              <a:t>1</a:t>
            </a:r>
            <a:r>
              <a:rPr lang="ru-RU" dirty="0"/>
              <a:t>2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Elektra Text Pro" panose="02000503030000020004"/>
                <a:ea typeface="Calibri" panose="020F0502020204030204" pitchFamily="34" charset="0"/>
              </a:rPr>
              <a:t>Разработка веб-приложения для автоматизации учебных онлайн и офлайн процессов в учреждениях дополнительного образования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C9322A-E361-4159-B278-0FC47C524EFF}"/>
              </a:ext>
            </a:extLst>
          </p:cNvPr>
          <p:cNvSpPr txBox="1"/>
          <p:nvPr/>
        </p:nvSpPr>
        <p:spPr>
          <a:xfrm>
            <a:off x="251520" y="1740024"/>
            <a:ext cx="37444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Elektra Text Pro" panose="02000503030000020004"/>
              </a:rPr>
              <a:t>3.    </a:t>
            </a:r>
            <a:r>
              <a:rPr lang="ru-RU" dirty="0" smtClean="0">
                <a:latin typeface="Elektra Text Pro" panose="02000503030000020004"/>
              </a:rPr>
              <a:t>«</a:t>
            </a:r>
            <a:r>
              <a:rPr lang="en-US" dirty="0" smtClean="0">
                <a:latin typeface="Elektra Text Pro" panose="02000503030000020004"/>
              </a:rPr>
              <a:t>iSpring Learn</a:t>
            </a:r>
            <a:r>
              <a:rPr lang="ru-RU" dirty="0" smtClean="0">
                <a:latin typeface="Elektra Text Pro" panose="02000503030000020004"/>
              </a:rPr>
              <a:t>»</a:t>
            </a:r>
            <a:endParaRPr lang="en-US" dirty="0">
              <a:latin typeface="Elektra Text Pro" panose="02000503030000020004"/>
            </a:endParaRPr>
          </a:p>
          <a:p>
            <a:pPr marL="342900" indent="-342900">
              <a:buAutoNum type="arabicPeriod"/>
            </a:pPr>
            <a:endParaRPr lang="en-US" dirty="0">
              <a:latin typeface="Elektra Text Pro" panose="02000503030000020004"/>
            </a:endParaRPr>
          </a:p>
          <a:p>
            <a:r>
              <a:rPr lang="ru-RU" dirty="0">
                <a:latin typeface="Elektra Text Pro" panose="02000503030000020004"/>
              </a:rPr>
              <a:t>Функционал:</a:t>
            </a:r>
            <a:endParaRPr lang="en-US" dirty="0">
              <a:latin typeface="Elektra Text Pro" panose="02000503030000020004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платформа </a:t>
            </a: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для организации дистанционного </a:t>
            </a: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обучения;</a:t>
            </a:r>
            <a:endParaRPr lang="ru-RU" dirty="0">
              <a:latin typeface="Elektra Text Pro" panose="02000503030000020004"/>
              <a:ea typeface="Calibri" panose="020F0502020204030204" pitchFamily="34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инструменты </a:t>
            </a: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для быстрого создания интерактивных </a:t>
            </a: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курсов;</a:t>
            </a:r>
            <a:endParaRPr lang="ru-RU" dirty="0">
              <a:latin typeface="Elektra Text Pro" panose="02000503030000020004"/>
              <a:ea typeface="Calibri" panose="020F0502020204030204" pitchFamily="34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поддержка </a:t>
            </a: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различных форматов учебного контента (видео, презентации, тесты</a:t>
            </a: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);</a:t>
            </a:r>
            <a:endParaRPr lang="ru-RU" dirty="0">
              <a:latin typeface="Elektra Text Pro" panose="02000503030000020004"/>
              <a:ea typeface="Calibri" panose="020F0502020204030204" pitchFamily="34" charset="0"/>
            </a:endParaRP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интеграция </a:t>
            </a:r>
            <a:r>
              <a:rPr lang="ru-RU" dirty="0">
                <a:latin typeface="Elektra Text Pro" panose="02000503030000020004"/>
                <a:ea typeface="Calibri" panose="020F0502020204030204" pitchFamily="34" charset="0"/>
              </a:rPr>
              <a:t>с </a:t>
            </a:r>
            <a:r>
              <a:rPr lang="ru-RU" dirty="0" smtClean="0">
                <a:latin typeface="Elektra Text Pro" panose="02000503030000020004"/>
                <a:ea typeface="Calibri" panose="020F0502020204030204" pitchFamily="34" charset="0"/>
              </a:rPr>
              <a:t>видеоконференциями.</a:t>
            </a:r>
            <a:endParaRPr lang="ru-RU" sz="1800" dirty="0">
              <a:effectLst/>
              <a:latin typeface="Elektra Text Pro" panose="02000503030000020004"/>
              <a:ea typeface="Calibri" panose="020F0502020204030204" pitchFamily="34" charset="0"/>
            </a:endParaRPr>
          </a:p>
        </p:txBody>
      </p:sp>
      <p:pic>
        <p:nvPicPr>
          <p:cNvPr id="12" name="Рисунок 11"/>
          <p:cNvPicPr/>
          <p:nvPr/>
        </p:nvPicPr>
        <p:blipFill>
          <a:blip r:embed="rId3"/>
          <a:stretch>
            <a:fillRect/>
          </a:stretch>
        </p:blipFill>
        <p:spPr>
          <a:xfrm>
            <a:off x="4418580" y="1989589"/>
            <a:ext cx="4472940" cy="291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5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17897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Elektra Text Pro"/>
                <a:cs typeface="Arial" pitchFamily="34" charset="0"/>
              </a:rPr>
              <a:t>АНАЛИЗ СИСТЕМ-АНАЛОГОВ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2400" y="6165306"/>
            <a:ext cx="70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7</a:t>
            </a:fld>
            <a:r>
              <a:rPr lang="ru-RU" dirty="0" smtClean="0"/>
              <a:t>/12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Elektra Text Pro" panose="02000503030000020004"/>
                <a:ea typeface="Calibri" panose="020F0502020204030204" pitchFamily="34" charset="0"/>
              </a:rPr>
              <a:t>Разработка веб-приложения для автоматизации учебных онлайн и офлайн процессов в учреждениях дополнительного образования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7C008DD-0E64-4050-BBD4-9AC6BBD19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81845"/>
              </p:ext>
            </p:extLst>
          </p:nvPr>
        </p:nvGraphicFramePr>
        <p:xfrm>
          <a:off x="647082" y="1348213"/>
          <a:ext cx="7848871" cy="44805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988814">
                  <a:extLst>
                    <a:ext uri="{9D8B030D-6E8A-4147-A177-3AD203B41FA5}">
                      <a16:colId xmlns:a16="http://schemas.microsoft.com/office/drawing/2014/main" val="1457918982"/>
                    </a:ext>
                  </a:extLst>
                </a:gridCol>
                <a:gridCol w="1620019">
                  <a:extLst>
                    <a:ext uri="{9D8B030D-6E8A-4147-A177-3AD203B41FA5}">
                      <a16:colId xmlns:a16="http://schemas.microsoft.com/office/drawing/2014/main" val="3492718470"/>
                    </a:ext>
                  </a:extLst>
                </a:gridCol>
                <a:gridCol w="1620019">
                  <a:extLst>
                    <a:ext uri="{9D8B030D-6E8A-4147-A177-3AD203B41FA5}">
                      <a16:colId xmlns:a16="http://schemas.microsoft.com/office/drawing/2014/main" val="1931803709"/>
                    </a:ext>
                  </a:extLst>
                </a:gridCol>
                <a:gridCol w="1620019">
                  <a:extLst>
                    <a:ext uri="{9D8B030D-6E8A-4147-A177-3AD203B41FA5}">
                      <a16:colId xmlns:a16="http://schemas.microsoft.com/office/drawing/2014/main" val="1536349421"/>
                    </a:ext>
                  </a:extLst>
                </a:gridCol>
              </a:tblGrid>
              <a:tr h="640080">
                <a:tc rowSpan="2"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>
                          <a:effectLst/>
                        </a:rPr>
                        <a:t>Показатели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 smtClean="0">
                          <a:effectLst/>
                        </a:rPr>
                        <a:t>Веб-приложения </a:t>
                      </a:r>
                      <a:r>
                        <a:rPr lang="ru-RU" sz="1400" dirty="0">
                          <a:effectLst/>
                        </a:rPr>
                        <a:t>для сравнения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661702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en-US" sz="1400" dirty="0" smtClean="0">
                          <a:effectLst/>
                          <a:latin typeface="+mn-lt"/>
                          <a:ea typeface="+mn-ea"/>
                        </a:rPr>
                        <a:t>Google</a:t>
                      </a:r>
                      <a:r>
                        <a:rPr lang="en-US" sz="1400" baseline="0" dirty="0" smtClean="0">
                          <a:effectLst/>
                          <a:latin typeface="+mn-lt"/>
                          <a:ea typeface="+mn-ea"/>
                        </a:rPr>
                        <a:t> Classroom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en-US" sz="1400" dirty="0" smtClean="0">
                          <a:effectLst/>
                        </a:rPr>
                        <a:t>Stepik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en-US" sz="1400" dirty="0" smtClean="0">
                          <a:effectLst/>
                        </a:rPr>
                        <a:t>iSpring Learn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41903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 smtClean="0">
                          <a:effectLst/>
                        </a:rPr>
                        <a:t>Автопроверка</a:t>
                      </a:r>
                      <a:r>
                        <a:rPr lang="ru-RU" sz="1400" baseline="0" dirty="0" smtClean="0">
                          <a:effectLst/>
                        </a:rPr>
                        <a:t> знаний</a:t>
                      </a:r>
                      <a:endParaRPr lang="ru-RU" sz="1400" dirty="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>
                          <a:effectLst/>
                        </a:rPr>
                        <a:t>+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>
                          <a:effectLst/>
                          <a:latin typeface="+mn-lt"/>
                          <a:ea typeface="+mn-ea"/>
                        </a:rPr>
                        <a:t>-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7128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 smtClean="0">
                          <a:effectLst/>
                        </a:rPr>
                        <a:t>Бесплатный доступ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>
                          <a:effectLst/>
                          <a:latin typeface="Elektra Text Pro" panose="02000503030000020004"/>
                          <a:ea typeface="Times New Roman" panose="02020603050405020304" pitchFamily="18" charset="0"/>
                        </a:rPr>
                        <a:t>+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>
                          <a:effectLst/>
                          <a:latin typeface="+mn-lt"/>
                          <a:ea typeface="+mn-ea"/>
                        </a:rPr>
                        <a:t>+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>
                          <a:effectLst/>
                        </a:rPr>
                        <a:t>-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11771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 smtClean="0">
                          <a:effectLst/>
                        </a:rPr>
                        <a:t>Интеграция с сервисами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en-US" sz="1400" dirty="0" smtClean="0">
                          <a:effectLst/>
                          <a:latin typeface="+mn-lt"/>
                          <a:ea typeface="+mn-ea"/>
                        </a:rPr>
                        <a:t>Google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en-US" sz="1400" dirty="0" smtClean="0">
                          <a:effectLst/>
                          <a:latin typeface="+mn-lt"/>
                          <a:ea typeface="+mn-ea"/>
                        </a:rPr>
                        <a:t>Github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en-US" sz="1400" dirty="0" smtClean="0">
                          <a:effectLst/>
                          <a:latin typeface="+mn-lt"/>
                          <a:ea typeface="+mn-ea"/>
                        </a:rPr>
                        <a:t>Zoom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681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 smtClean="0">
                          <a:effectLst/>
                        </a:rPr>
                        <a:t>Геймификация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>
                          <a:effectLst/>
                        </a:rPr>
                        <a:t>-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>
                          <a:effectLst/>
                          <a:latin typeface="+mn-lt"/>
                          <a:ea typeface="+mn-ea"/>
                        </a:rPr>
                        <a:t>+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>
                          <a:effectLst/>
                          <a:latin typeface="+mn-lt"/>
                          <a:ea typeface="+mn-ea"/>
                        </a:rPr>
                        <a:t>+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70142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 smtClean="0">
                          <a:effectLst/>
                          <a:latin typeface="Elektra Text Pro" panose="02000503030000020004"/>
                          <a:ea typeface="Times New Roman" panose="02020603050405020304" pitchFamily="18" charset="0"/>
                        </a:rPr>
                        <a:t>Понятность</a:t>
                      </a:r>
                      <a:r>
                        <a:rPr lang="ru-RU" sz="1400" baseline="0" dirty="0" smtClean="0">
                          <a:effectLst/>
                          <a:latin typeface="Elektra Text Pro" panose="02000503030000020004"/>
                          <a:ea typeface="Times New Roman" panose="02020603050405020304" pitchFamily="18" charset="0"/>
                        </a:rPr>
                        <a:t> интерфейса (1-5)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>
                          <a:effectLst/>
                          <a:latin typeface="+mn-lt"/>
                          <a:ea typeface="+mn-ea"/>
                        </a:rPr>
                        <a:t>5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>
                          <a:effectLst/>
                          <a:latin typeface="+mn-lt"/>
                          <a:ea typeface="+mn-ea"/>
                        </a:rPr>
                        <a:t>2</a:t>
                      </a:r>
                      <a:endParaRPr lang="ru-RU" sz="1400" dirty="0">
                        <a:effectLst/>
                        <a:latin typeface="Elektra Text Pro" panose="02000503030000020004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40385" indent="-9017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900430" algn="l"/>
                        </a:tabLst>
                      </a:pPr>
                      <a:r>
                        <a:rPr lang="ru-RU" sz="1400" dirty="0" smtClean="0">
                          <a:effectLst/>
                        </a:rPr>
                        <a:t>3</a:t>
                      </a:r>
                      <a:endParaRPr lang="ru-RU" sz="1400" dirty="0"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84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837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17897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Elektra Text Pro"/>
                <a:cs typeface="Arial" pitchFamily="34" charset="0"/>
              </a:rPr>
              <a:t>ПЕРЕЧЕНЬ ФУНКЦИОНАЛЬНЫХ ТРЕБОВАНИЙ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2400" y="6165306"/>
            <a:ext cx="70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8</a:t>
            </a:fld>
            <a:r>
              <a:rPr lang="ru-RU" dirty="0" smtClean="0"/>
              <a:t>/12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Elektra Text Pro" panose="02000503030000020004"/>
                <a:ea typeface="Calibri" panose="020F0502020204030204" pitchFamily="34" charset="0"/>
              </a:rPr>
              <a:t>Разработка веб-приложения для автоматизации учебных онлайн и офлайн процессов в учреждениях дополнительного образования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C73689-6F6C-4871-B2B2-441BA708AAB2}"/>
              </a:ext>
            </a:extLst>
          </p:cNvPr>
          <p:cNvSpPr txBox="1"/>
          <p:nvPr/>
        </p:nvSpPr>
        <p:spPr>
          <a:xfrm>
            <a:off x="271323" y="1326822"/>
            <a:ext cx="8601354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1800" dirty="0">
                <a:effectLst/>
                <a:latin typeface="Elektra Text Pro" panose="02000503030000020004"/>
                <a:ea typeface="Times New Roman" panose="02020603050405020304" pitchFamily="18" charset="0"/>
              </a:rPr>
              <a:t>Функции системы:</a:t>
            </a: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система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аутентификации и регистрации 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пользователей;</a:t>
            </a:r>
            <a:endParaRPr lang="ru-RU" dirty="0">
              <a:latin typeface="Elektra Text Pro" panose="02000503030000020004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каталог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учебных курсов с фильтрацией и 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поиском;</a:t>
            </a:r>
            <a:endParaRPr lang="ru-RU" dirty="0">
              <a:latin typeface="Elektra Text Pro" panose="02000503030000020004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личные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кабинеты для разных типов пользователей (администратор/преподаватель/учащийся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);</a:t>
            </a:r>
            <a:endParaRPr lang="ru-RU" dirty="0">
              <a:latin typeface="Elektra Text Pro" panose="02000503030000020004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инструменты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создания и управления учебными 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материалами;</a:t>
            </a:r>
            <a:endParaRPr lang="ru-RU" dirty="0">
              <a:latin typeface="Elektra Text Pro" panose="02000503030000020004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с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истема назначения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и проверки 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заданий;</a:t>
            </a:r>
            <a:endParaRPr lang="ru-RU" dirty="0">
              <a:latin typeface="Elektra Text Pro" panose="02000503030000020004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аналитика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успеваемости и генерация 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отчетов;</a:t>
            </a:r>
            <a:endParaRPr lang="ru-RU" dirty="0">
              <a:latin typeface="Elektra Text Pro" panose="02000503030000020004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и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нтеграция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с сервисами 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видеоконференций.</a:t>
            </a:r>
            <a:endParaRPr lang="ru-RU" dirty="0">
              <a:effectLst/>
              <a:latin typeface="Elektra Text Pro" panose="02000503030000020004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8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17897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Elektra Text Pro"/>
                <a:cs typeface="Arial" pitchFamily="34" charset="0"/>
              </a:rPr>
              <a:t>ПЕРЕЧЕНЬ ФУНКЦИОНАЛЬНЫХ ТРЕБОВАНИЙ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2400" y="6165306"/>
            <a:ext cx="70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9</a:t>
            </a:fld>
            <a:r>
              <a:rPr lang="ru-RU" dirty="0" smtClean="0"/>
              <a:t>/12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Elektra Text Pro" panose="02000503030000020004"/>
                <a:ea typeface="Calibri" panose="020F0502020204030204" pitchFamily="34" charset="0"/>
              </a:rPr>
              <a:t>Разработка веб-приложения для автоматизации учебных онлайн и офлайн процессов в учреждениях дополнительного образования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C73689-6F6C-4871-B2B2-441BA708AAB2}"/>
              </a:ext>
            </a:extLst>
          </p:cNvPr>
          <p:cNvSpPr txBox="1"/>
          <p:nvPr/>
        </p:nvSpPr>
        <p:spPr>
          <a:xfrm>
            <a:off x="271323" y="1326822"/>
            <a:ext cx="860135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Функции 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для преподавателей:</a:t>
            </a:r>
            <a:endParaRPr lang="ru-RU" dirty="0">
              <a:latin typeface="Elektra Text Pro" panose="02000503030000020004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разработка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учебных программ и материалов;</a:t>
            </a: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назначение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и проверка заданий;</a:t>
            </a: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контроль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успеваемости 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учащихся;</a:t>
            </a:r>
            <a:endParaRPr lang="ru-RU" dirty="0">
              <a:latin typeface="Elektra Text Pro" panose="02000503030000020004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проведение онлайн-занятий.</a:t>
            </a:r>
          </a:p>
          <a:p>
            <a:pPr indent="450215" algn="just">
              <a:lnSpc>
                <a:spcPct val="150000"/>
              </a:lnSpc>
            </a:pP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Функции для 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учащихся:</a:t>
            </a:r>
            <a:endParaRPr lang="ru-RU" dirty="0">
              <a:latin typeface="Elektra Text Pro" panose="02000503030000020004"/>
              <a:ea typeface="Times New Roman" panose="02020603050405020304" pitchFamily="18" charset="0"/>
            </a:endParaRP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доступ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к учебным материалам 24/7;</a:t>
            </a: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выполнение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и отправка заданий;</a:t>
            </a: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отслеживание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персонального прогресса;</a:t>
            </a:r>
          </a:p>
          <a:p>
            <a:pPr marL="742950" lvl="1" indent="-285750" algn="just">
              <a:lnSpc>
                <a:spcPct val="150000"/>
              </a:lnSpc>
              <a:buFontTx/>
              <a:buChar char="̶"/>
            </a:pP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общение </a:t>
            </a:r>
            <a:r>
              <a:rPr lang="ru-RU" dirty="0">
                <a:latin typeface="Elektra Text Pro" panose="02000503030000020004"/>
                <a:ea typeface="Times New Roman" panose="02020603050405020304" pitchFamily="18" charset="0"/>
              </a:rPr>
              <a:t>с </a:t>
            </a:r>
            <a:r>
              <a:rPr lang="ru-RU" dirty="0" smtClean="0">
                <a:latin typeface="Elektra Text Pro" panose="02000503030000020004"/>
                <a:ea typeface="Times New Roman" panose="02020603050405020304" pitchFamily="18" charset="0"/>
              </a:rPr>
              <a:t>преподавателями.</a:t>
            </a:r>
            <a:endParaRPr lang="ru-RU" dirty="0">
              <a:latin typeface="Elektra Text Pro" panose="02000503030000020004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775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17897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marL="914400" lvl="2" algn="ctr">
              <a:lnSpc>
                <a:spcPct val="150000"/>
              </a:lnSpc>
            </a:pPr>
            <a:r>
              <a:rPr lang="ru-RU" sz="1800" b="1" i="0" dirty="0">
                <a:effectLst/>
                <a:latin typeface="Elektra Text Pro" panose="02000503030000020004"/>
                <a:ea typeface="Times New Roman" panose="02020603050405020304" pitchFamily="18" charset="0"/>
              </a:rPr>
              <a:t>ВЫБОР СИСТЕМ ДЛЯ РАЗРАБОТКИ КЛИЕНТСКОЙ ЧАСТИ</a:t>
            </a:r>
            <a:endParaRPr lang="ru-RU" sz="1800" b="1" i="1" dirty="0">
              <a:effectLst/>
              <a:latin typeface="Elektra Text Pro" panose="02000503030000020004"/>
              <a:ea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28384" y="6165306"/>
            <a:ext cx="844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10</a:t>
            </a:fld>
            <a:r>
              <a:rPr lang="ru-RU" dirty="0" smtClean="0"/>
              <a:t>/12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Elektra Text Pro" panose="02000503030000020004"/>
                <a:ea typeface="Calibri" panose="020F0502020204030204" pitchFamily="34" charset="0"/>
              </a:rPr>
              <a:t>Разработка веб-приложения для автоматизации учебных онлайн и офлайн процессов в учреждениях дополнительного образования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229C6-11E3-43C5-BBA1-7241E5CE9EB2}"/>
              </a:ext>
            </a:extLst>
          </p:cNvPr>
          <p:cNvSpPr txBox="1"/>
          <p:nvPr/>
        </p:nvSpPr>
        <p:spPr>
          <a:xfrm>
            <a:off x="4572001" y="1973821"/>
            <a:ext cx="4090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Elektra Text Pro" panose="02000503030000020004"/>
              </a:rPr>
              <a:t>React.js обеспечит компонентный подход и высокую производительность за счет виртуального DOM.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3520BC-D2D8-4D04-89FF-017E55182E28}"/>
              </a:ext>
            </a:extLst>
          </p:cNvPr>
          <p:cNvSpPr txBox="1"/>
          <p:nvPr/>
        </p:nvSpPr>
        <p:spPr>
          <a:xfrm>
            <a:off x="4557815" y="4311445"/>
            <a:ext cx="4104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Elektra Text Pro" panose="02000503030000020004"/>
              </a:rPr>
              <a:t>TypeScript добавит статическую типизацию, повысив надежность и </a:t>
            </a:r>
            <a:r>
              <a:rPr lang="ru-RU" dirty="0" err="1">
                <a:latin typeface="Elektra Text Pro" panose="02000503030000020004"/>
              </a:rPr>
              <a:t>поддерживаемость</a:t>
            </a:r>
            <a:r>
              <a:rPr lang="ru-RU" dirty="0">
                <a:latin typeface="Elektra Text Pro" panose="02000503030000020004"/>
              </a:rPr>
              <a:t> кода.</a:t>
            </a:r>
          </a:p>
        </p:txBody>
      </p:sp>
      <p:pic>
        <p:nvPicPr>
          <p:cNvPr id="4" name="Picture 2" descr="React JS – Abrillian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18353"/>
            <a:ext cx="3096344" cy="2034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ypeScript — Википедия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045" y="3678993"/>
            <a:ext cx="1979438" cy="197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254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20" y="6093295"/>
            <a:ext cx="8640000" cy="540000"/>
          </a:xfrm>
          <a:solidFill>
            <a:srgbClr val="E6E6E6"/>
          </a:solidFill>
        </p:spPr>
        <p:txBody>
          <a:bodyPr/>
          <a:lstStyle/>
          <a:p>
            <a:pPr algn="l"/>
            <a:endParaRPr lang="ru-RU" sz="14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19" y="317897"/>
            <a:ext cx="8640001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marL="914400" lvl="2" algn="ctr">
              <a:lnSpc>
                <a:spcPct val="150000"/>
              </a:lnSpc>
            </a:pPr>
            <a:r>
              <a:rPr lang="ru-RU" sz="1800" b="1" i="0" dirty="0">
                <a:effectLst/>
                <a:latin typeface="Elektra Text Pro" panose="02000503030000020004"/>
                <a:ea typeface="Times New Roman" panose="02020603050405020304" pitchFamily="18" charset="0"/>
              </a:rPr>
              <a:t>ВЫБОР СИСТЕМ ДЛЯ РАЗРАБОТКИ </a:t>
            </a:r>
            <a:r>
              <a:rPr lang="ru-RU" sz="1800" b="1" i="0" dirty="0" smtClean="0">
                <a:effectLst/>
                <a:latin typeface="Elektra Text Pro" panose="02000503030000020004"/>
                <a:ea typeface="Times New Roman" panose="02020603050405020304" pitchFamily="18" charset="0"/>
              </a:rPr>
              <a:t>СЕРВЕРНОЙ </a:t>
            </a:r>
            <a:r>
              <a:rPr lang="ru-RU" sz="1800" b="1" i="0" dirty="0">
                <a:effectLst/>
                <a:latin typeface="Elektra Text Pro" panose="02000503030000020004"/>
                <a:ea typeface="Times New Roman" panose="02020603050405020304" pitchFamily="18" charset="0"/>
              </a:rPr>
              <a:t>ЧАСТИ</a:t>
            </a:r>
            <a:endParaRPr lang="ru-RU" sz="1800" b="1" i="1" dirty="0">
              <a:effectLst/>
              <a:latin typeface="Elektra Text Pro" panose="02000503030000020004"/>
              <a:ea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28384" y="6165306"/>
            <a:ext cx="844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11</a:t>
            </a:fld>
            <a:r>
              <a:rPr lang="ru-RU" dirty="0" smtClean="0"/>
              <a:t>/12</a:t>
            </a:r>
            <a:endParaRPr lang="ru-RU" dirty="0"/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251520" y="6112445"/>
            <a:ext cx="7200800" cy="520850"/>
          </a:xfrm>
          <a:prstGeom prst="rect">
            <a:avLst/>
          </a:prstGeom>
          <a:solidFill>
            <a:srgbClr val="E6E6E6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Elektra Text Pro" panose="02000503030000020004"/>
                <a:ea typeface="Calibri" panose="020F0502020204030204" pitchFamily="34" charset="0"/>
              </a:rPr>
              <a:t>Разработка веб-приложения для автоматизации учебных онлайн и офлайн процессов в учреждениях дополнительного образования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229C6-11E3-43C5-BBA1-7241E5CE9EB2}"/>
              </a:ext>
            </a:extLst>
          </p:cNvPr>
          <p:cNvSpPr txBox="1"/>
          <p:nvPr/>
        </p:nvSpPr>
        <p:spPr>
          <a:xfrm>
            <a:off x="2424985" y="1399270"/>
            <a:ext cx="6466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Elektra Text Pro" panose="02000503030000020004"/>
              </a:rPr>
              <a:t>Node.js обеспечит высокую производительность и масштабируемость для обработки множества одновременных подключений.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3520BC-D2D8-4D04-89FF-017E55182E28}"/>
              </a:ext>
            </a:extLst>
          </p:cNvPr>
          <p:cNvSpPr txBox="1"/>
          <p:nvPr/>
        </p:nvSpPr>
        <p:spPr>
          <a:xfrm>
            <a:off x="2424985" y="2506252"/>
            <a:ext cx="6447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Elektra Text Pro" panose="02000503030000020004"/>
              </a:rPr>
              <a:t>NestJS предоставит готовые решения для сложной бизнес-логики, такой как проверка заданий и формирование отчетов.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73" y="1423255"/>
            <a:ext cx="1550635" cy="82025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2506252"/>
            <a:ext cx="1858674" cy="660862"/>
          </a:xfrm>
          <a:prstGeom prst="rect">
            <a:avLst/>
          </a:prstGeom>
        </p:spPr>
      </p:pic>
      <p:pic>
        <p:nvPicPr>
          <p:cNvPr id="12" name="Picture 2" descr="PostgreSQL - NamuWiki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72" y="4350023"/>
            <a:ext cx="1820057" cy="57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DC229C6-11E3-43C5-BBA1-7241E5CE9EB2}"/>
              </a:ext>
            </a:extLst>
          </p:cNvPr>
          <p:cNvSpPr txBox="1"/>
          <p:nvPr/>
        </p:nvSpPr>
        <p:spPr>
          <a:xfrm>
            <a:off x="2424985" y="4266358"/>
            <a:ext cx="6447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Elektra Text Pro" panose="02000503030000020004"/>
              </a:rPr>
              <a:t>PostgreSQL — для структурированных данных (пользователи, курсы, задания).</a:t>
            </a:r>
          </a:p>
        </p:txBody>
      </p:sp>
      <p:pic>
        <p:nvPicPr>
          <p:cNvPr id="16" name="Picture 4" descr="How to get started with MongoDB in 10 minutes | by Navindu Jayatilake |  We've moved to freeCodeCamp.org/news | Medium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58" y="5076082"/>
            <a:ext cx="671634" cy="67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83520BC-D2D8-4D04-89FF-017E55182E28}"/>
              </a:ext>
            </a:extLst>
          </p:cNvPr>
          <p:cNvSpPr txBox="1"/>
          <p:nvPr/>
        </p:nvSpPr>
        <p:spPr>
          <a:xfrm>
            <a:off x="2424984" y="5076082"/>
            <a:ext cx="6323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Elektra Text Pro" panose="02000503030000020004"/>
              </a:rPr>
              <a:t>MongoDB — для менее структурированного контента (чаты, комментарии, медиафайлы).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7338DE-001E-40A1-B86A-51B3E72EFB1B}"/>
              </a:ext>
            </a:extLst>
          </p:cNvPr>
          <p:cNvSpPr txBox="1"/>
          <p:nvPr/>
        </p:nvSpPr>
        <p:spPr>
          <a:xfrm>
            <a:off x="224352" y="3388758"/>
            <a:ext cx="86489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Elektra Text Pro" panose="02000503030000020004"/>
                <a:ea typeface="Calibri" panose="020F0502020204030204" pitchFamily="34" charset="0"/>
              </a:rPr>
              <a:t>Firebase и Google Cloud Platform были выбраны из-за их мощных возможностей</a:t>
            </a:r>
            <a:r>
              <a:rPr lang="en-US" dirty="0">
                <a:latin typeface="Elektra Text Pro" panose="02000503030000020004"/>
                <a:ea typeface="Calibri" panose="020F0502020204030204" pitchFamily="34" charset="0"/>
              </a:rPr>
              <a:t> </a:t>
            </a:r>
            <a:r>
              <a:rPr lang="ru-RU" sz="1800" dirty="0">
                <a:effectLst/>
                <a:latin typeface="Elektra Text Pro" panose="02000503030000020004"/>
                <a:ea typeface="Calibri" panose="020F0502020204030204" pitchFamily="34" charset="0"/>
              </a:rPr>
              <a:t>и удобства использования</a:t>
            </a:r>
            <a:endParaRPr lang="ru-RU" dirty="0">
              <a:latin typeface="Elektra Text Pro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954859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251519" y="6093295"/>
            <a:ext cx="8621157" cy="540000"/>
          </a:xfrm>
          <a:solidFill>
            <a:srgbClr val="E6E6E6"/>
          </a:solidFill>
        </p:spPr>
        <p:txBody>
          <a:bodyPr/>
          <a:lstStyle/>
          <a:p>
            <a:pPr algn="l"/>
            <a:r>
              <a:rPr lang="ru-RU" sz="1400" dirty="0">
                <a:latin typeface="Elektra Text Pro" panose="02000503030000020004"/>
                <a:ea typeface="Calibri" panose="020F0502020204030204" pitchFamily="34" charset="0"/>
              </a:rPr>
              <a:t>Разработка веб-приложения для автоматизации учебных онлайн и офлайн </a:t>
            </a:r>
            <a:r>
              <a:rPr lang="ru-RU" sz="1400" dirty="0" smtClean="0">
                <a:latin typeface="Elektra Text Pro" panose="02000503030000020004"/>
                <a:ea typeface="Calibri" panose="020F0502020204030204" pitchFamily="34" charset="0"/>
              </a:rPr>
              <a:t>процессов</a:t>
            </a:r>
            <a:r>
              <a:rPr lang="en-US" sz="1400" dirty="0">
                <a:latin typeface="Elektra Text Pro" panose="02000503030000020004"/>
                <a:ea typeface="Calibri" panose="020F0502020204030204" pitchFamily="34" charset="0"/>
              </a:rPr>
              <a:t> </a:t>
            </a:r>
            <a:r>
              <a:rPr lang="ru-RU" sz="1400" dirty="0" smtClean="0">
                <a:latin typeface="Elektra Text Pro" panose="02000503030000020004"/>
                <a:ea typeface="Calibri" panose="020F0502020204030204" pitchFamily="34" charset="0"/>
              </a:rPr>
              <a:t>в</a:t>
            </a:r>
            <a:br>
              <a:rPr lang="ru-RU" sz="1400" dirty="0" smtClean="0">
                <a:latin typeface="Elektra Text Pro" panose="02000503030000020004"/>
                <a:ea typeface="Calibri" panose="020F0502020204030204" pitchFamily="34" charset="0"/>
              </a:rPr>
            </a:br>
            <a:r>
              <a:rPr lang="ru-RU" sz="1400" dirty="0" smtClean="0">
                <a:latin typeface="Elektra Text Pro" panose="02000503030000020004"/>
                <a:ea typeface="Calibri" panose="020F0502020204030204" pitchFamily="34" charset="0"/>
              </a:rPr>
              <a:t>учреждениях </a:t>
            </a:r>
            <a:r>
              <a:rPr lang="ru-RU" sz="1400" dirty="0">
                <a:latin typeface="Elektra Text Pro" panose="02000503030000020004"/>
                <a:ea typeface="Calibri" panose="020F0502020204030204" pitchFamily="34" charset="0"/>
              </a:rPr>
              <a:t>дополнительного образования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342900"/>
            <a:ext cx="8640000" cy="720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336751"/>
            <a:ext cx="8640000" cy="720725"/>
          </a:xfrm>
          <a:solidFill>
            <a:srgbClr val="E6E6E6"/>
          </a:solidFill>
        </p:spPr>
        <p:txBody>
          <a:bodyPr>
            <a:noAutofit/>
          </a:bodyPr>
          <a:lstStyle/>
          <a:p>
            <a:pPr algn="ctr"/>
            <a:r>
              <a:rPr lang="ru-RU" sz="1800" b="1" dirty="0">
                <a:latin typeface="Arial" pitchFamily="34" charset="0"/>
                <a:cs typeface="Arial" pitchFamily="34" charset="0"/>
              </a:rPr>
              <a:t>Заключение / 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000" cy="461009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spc="-1" dirty="0">
                <a:solidFill>
                  <a:srgbClr val="000000"/>
                </a:solidFill>
                <a:latin typeface="Elektra Text Pro"/>
                <a:ea typeface="DejaVu Sans"/>
                <a:cs typeface="Arial" panose="020B0604020202020204" pitchFamily="34" charset="0"/>
              </a:rPr>
              <a:t>В результате разработки проекта были выполнены следующие задачи: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800" spc="-1" dirty="0">
              <a:solidFill>
                <a:srgbClr val="000000"/>
              </a:solidFill>
              <a:latin typeface="Elektra Text Pro"/>
              <a:ea typeface="DejaVu Sans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ru-RU" sz="1800" spc="-1" dirty="0">
                <a:latin typeface="Elektra Text Pro" panose="02000503030000020004"/>
                <a:cs typeface="Arial" panose="020B0604020202020204" pitchFamily="34" charset="0"/>
              </a:rPr>
              <a:t>И</a:t>
            </a:r>
            <a:r>
              <a:rPr lang="ru-RU" sz="1800" dirty="0">
                <a:latin typeface="Elektra Text Pro" panose="02000503030000020004"/>
              </a:rPr>
              <a:t>зучена предметная область.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Elektra Text Pro" panose="02000503030000020004"/>
              </a:rPr>
              <a:t>Изучены методы, технологии, алгоритмы и методики, значимые для рассматриваемой предметной области.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Elektra Text Pro" panose="02000503030000020004"/>
              </a:rPr>
              <a:t>Проведен анализ актуальности выбранной задачи.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Elektra Text Pro" panose="02000503030000020004"/>
              </a:rPr>
              <a:t>Рассмотрены системы-аналоги.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Elektra Text Pro" panose="02000503030000020004"/>
              </a:rPr>
              <a:t>Составлен список функций разрабатываемого </a:t>
            </a:r>
            <a:r>
              <a:rPr lang="ru-RU" sz="1800" dirty="0" smtClean="0">
                <a:latin typeface="Elektra Text Pro" panose="02000503030000020004"/>
              </a:rPr>
              <a:t>приложения</a:t>
            </a:r>
            <a:r>
              <a:rPr lang="ru-RU" sz="1800" dirty="0">
                <a:latin typeface="Elektra Text Pro" panose="02000503030000020004"/>
              </a:rPr>
              <a:t>.</a:t>
            </a:r>
          </a:p>
          <a:p>
            <a:pPr marL="342900" indent="-342900">
              <a:buAutoNum type="arabicPeriod"/>
            </a:pPr>
            <a:r>
              <a:rPr lang="ru-RU" sz="1800" dirty="0">
                <a:latin typeface="Elektra Text Pro" panose="02000503030000020004"/>
              </a:rPr>
              <a:t>Произведен выбор архитектуры разрабатываемой системы и средств реализации.</a:t>
            </a:r>
            <a:endParaRPr lang="ru-RU" sz="1800" spc="-1" dirty="0">
              <a:latin typeface="Elektra Text Pro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00392" y="6165306"/>
            <a:ext cx="772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9A5D52-88F9-4971-91E7-95B02B6DE201}" type="slidenum">
              <a:rPr lang="ru-RU" smtClean="0"/>
              <a:pPr algn="r"/>
              <a:t>12</a:t>
            </a:fld>
            <a:r>
              <a:rPr lang="ru-RU" dirty="0" smtClean="0"/>
              <a:t>/12</a:t>
            </a:r>
            <a:endParaRPr lang="ru-RU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871221" y="5374803"/>
            <a:ext cx="5400598" cy="504056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Elektra Text Pro" panose="02000503030000020004" pitchFamily="50" charset="-52"/>
              </a:rPr>
              <a:t>БЛАГОДАРЮ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488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2106</TotalTime>
  <Words>740</Words>
  <Application>Microsoft Office PowerPoint</Application>
  <PresentationFormat>Экран (4:3)</PresentationFormat>
  <Paragraphs>145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DejaVu Sans</vt:lpstr>
      <vt:lpstr>Elektra Text Pro</vt:lpstr>
      <vt:lpstr>Symbol</vt:lpstr>
      <vt:lpstr>Times New Roman</vt:lpstr>
      <vt:lpstr>Тема Office</vt:lpstr>
      <vt:lpstr>Презентация PowerPoint</vt:lpstr>
      <vt:lpstr>ПОСТАНОВКА ЗАДАЧИ</vt:lpstr>
      <vt:lpstr>ОПИСАНИЕ ПРЕДМЕТНОЙ ОБЛАСТИ</vt:lpstr>
      <vt:lpstr>АНАЛИЗ СИСТЕМ-АНАЛОГОВ</vt:lpstr>
      <vt:lpstr>АНАЛИЗ СИСТЕМ-АНАЛОГОВ</vt:lpstr>
      <vt:lpstr>АНАЛИЗ СИСТЕМ-АНАЛОГОВ</vt:lpstr>
      <vt:lpstr>АНАЛИЗ СИСТЕМ-АНАЛОГОВ</vt:lpstr>
      <vt:lpstr>ПЕРЕЧЕНЬ ФУНКЦИОНАЛЬНЫХ ТРЕБОВАНИЙ</vt:lpstr>
      <vt:lpstr>ПЕРЕЧЕНЬ ФУНКЦИОНАЛЬНЫХ ТРЕБОВАНИЙ</vt:lpstr>
      <vt:lpstr>ВЫБОР СИСТЕМ ДЛЯ РАЗРАБОТКИ КЛИЕНТСКОЙ ЧАСТИ</vt:lpstr>
      <vt:lpstr>ВЫБОР СИСТЕМ ДЛЯ РАЗРАБОТКИ СЕРВЕРНОЙ ЧАСТИ</vt:lpstr>
      <vt:lpstr>Заключение /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Степанов</dc:creator>
  <cp:lastModifiedBy>A A</cp:lastModifiedBy>
  <cp:revision>95</cp:revision>
  <dcterms:created xsi:type="dcterms:W3CDTF">2016-03-09T10:31:39Z</dcterms:created>
  <dcterms:modified xsi:type="dcterms:W3CDTF">2025-06-26T10:28:02Z</dcterms:modified>
</cp:coreProperties>
</file>