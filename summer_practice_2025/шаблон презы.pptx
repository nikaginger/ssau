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0"/>
  </p:notesMasterIdLst>
  <p:sldIdLst>
    <p:sldId id="289" r:id="rId2"/>
    <p:sldId id="285" r:id="rId3"/>
    <p:sldId id="283" r:id="rId4"/>
    <p:sldId id="288" r:id="rId5"/>
    <p:sldId id="269" r:id="rId6"/>
    <p:sldId id="290" r:id="rId7"/>
    <p:sldId id="287" r:id="rId8"/>
    <p:sldId id="291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ьный слайд презентации" id="{A45BF7F8-D66E-4CE1-A666-8EBAC006C350}">
          <p14:sldIdLst>
            <p14:sldId id="289"/>
          </p14:sldIdLst>
        </p14:section>
        <p14:section name="Слайды презентации" id="{9DA68CF4-FCCC-4662-ABE9-17A6572EE01D}">
          <p14:sldIdLst>
            <p14:sldId id="285"/>
          </p14:sldIdLst>
        </p14:section>
        <p14:section name="Последний слайд" id="{56484599-CAB5-4B35-8FB9-ECF376C84423}">
          <p14:sldIdLst>
            <p14:sldId id="283"/>
          </p14:sldIdLst>
        </p14:section>
        <p14:section name="Примеры слайдов" id="{52997854-445F-4590-854E-6599E0B084FD}">
          <p14:sldIdLst>
            <p14:sldId id="288"/>
            <p14:sldId id="269"/>
            <p14:sldId id="290"/>
            <p14:sldId id="287"/>
            <p14:sldId id="2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D9D9D9"/>
    <a:srgbClr val="EAEA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 varScale="1">
        <p:scale>
          <a:sx n="49" d="100"/>
          <a:sy n="49" d="100"/>
        </p:scale>
        <p:origin x="120" y="62"/>
      </p:cViewPr>
      <p:guideLst>
        <p:guide orient="horz" pos="2160"/>
        <p:guide pos="38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36C68-DDAB-4D09-8E72-8E937BD7768C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8289E-2F4B-4BDB-9E3D-307BE649A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579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986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986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986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986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986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986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006A-6BE7-43E8-8AD6-C09FC266B36F}" type="datetime1">
              <a:rPr lang="ru-RU" smtClean="0"/>
              <a:t>24.06.2025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844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13183-B2A1-4784-80CE-65A33D52CB0B}" type="datetime1">
              <a:rPr lang="ru-RU" smtClean="0"/>
              <a:t>24.06.2025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8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88E9-D2C3-4436-BFEE-5F0C2E0896FE}" type="datetime1">
              <a:rPr lang="ru-RU" smtClean="0"/>
              <a:t>24.06.2025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74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5BC7-66CE-44BA-84C4-ADF5D358A8E5}" type="datetime1">
              <a:rPr lang="ru-RU" smtClean="0"/>
              <a:t>24.06.2025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502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F641-8A7B-48BB-9924-29525D09D843}" type="datetime1">
              <a:rPr lang="ru-RU" smtClean="0"/>
              <a:t>24.06.2025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410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CC1A-CDB1-4CBC-83A8-3EB958439194}" type="datetime1">
              <a:rPr lang="ru-RU" smtClean="0"/>
              <a:t>24.06.2025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extBox 6"/>
          <p:cNvSpPr txBox="1"/>
          <p:nvPr userDrawn="1"/>
        </p:nvSpPr>
        <p:spPr>
          <a:xfrm>
            <a:off x="7218294" y="6021288"/>
            <a:ext cx="1566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BF16142-48E7-436E-9D22-3C64D2802E5D}" type="slidenum">
              <a:rPr lang="ru-RU" smtClean="0"/>
              <a:t>‹#›</a:t>
            </a:fld>
            <a:r>
              <a:rPr lang="ru-RU" dirty="0" smtClean="0"/>
              <a:t> слайд из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616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C5F1-78C0-4305-B0EC-8CEF047F6C93}" type="datetime1">
              <a:rPr lang="ru-RU" smtClean="0"/>
              <a:t>24.06.2025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142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670FB-17C0-4434-90C8-A4668EF13565}" type="datetime1">
              <a:rPr lang="ru-RU" smtClean="0"/>
              <a:t>24.06.2025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246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5D1FD-3FC4-47EA-B2EB-FF46800F6009}" type="datetime1">
              <a:rPr lang="ru-RU" smtClean="0"/>
              <a:t>24.06.2025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027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85EE-4AB9-42CD-8126-E74FE77A9ED8}" type="datetime1">
              <a:rPr lang="ru-RU" smtClean="0"/>
              <a:t>24.06.2025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34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B916C-83BE-4CC1-8A21-D05CD30C43DB}" type="datetime1">
              <a:rPr lang="ru-RU" smtClean="0"/>
              <a:t>24.06.2025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180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09404-ED28-47FE-9DC5-C6BCEA110D1D}" type="datetime1">
              <a:rPr lang="ru-RU" smtClean="0"/>
              <a:t>24.06.2025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56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51519" y="548679"/>
            <a:ext cx="8640959" cy="1296313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2951820" y="548679"/>
            <a:ext cx="5805000" cy="5904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1558" y="2061016"/>
            <a:ext cx="7920882" cy="1512000"/>
          </a:xfrm>
          <a:noFill/>
        </p:spPr>
        <p:txBody>
          <a:bodyPr anchor="ctr" anchorCtr="0">
            <a:normAutofit/>
          </a:bodyPr>
          <a:lstStyle/>
          <a:p>
            <a:pPr marL="0" indent="0" algn="ctr">
              <a:buNone/>
            </a:pPr>
            <a:r>
              <a:rPr lang="ru-RU" sz="1800" b="1" cap="all" dirty="0">
                <a:latin typeface="Elektra Text Pro" panose="02000503030000020004" pitchFamily="50" charset="-52"/>
              </a:rPr>
              <a:t>Название презентации: </a:t>
            </a:r>
            <a:br>
              <a:rPr lang="ru-RU" sz="1800" b="1" cap="all" dirty="0">
                <a:latin typeface="Elektra Text Pro" panose="02000503030000020004" pitchFamily="50" charset="-52"/>
              </a:rPr>
            </a:br>
            <a:r>
              <a:rPr lang="ru-RU" sz="1800" b="1" cap="all" dirty="0">
                <a:latin typeface="Elektra Text Pro" panose="02000503030000020004" pitchFamily="50" charset="-52"/>
              </a:rPr>
              <a:t>шрифт фирменный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 panose="02000503030000020004" pitchFamily="50" charset="-52"/>
              </a:rPr>
              <a:t>Electra Text Pro</a:t>
            </a:r>
            <a:r>
              <a:rPr lang="ru-RU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 panose="02000503030000020004" pitchFamily="50" charset="-52"/>
              </a:rPr>
              <a:t>,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 panose="02000503030000020004" pitchFamily="50" charset="-52"/>
              </a:rPr>
              <a:t> </a:t>
            </a:r>
            <a:r>
              <a:rPr lang="ru-RU" sz="1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 panose="02000503030000020004" pitchFamily="50" charset="-52"/>
              </a:rPr>
              <a:t> </a:t>
            </a:r>
            <a:r>
              <a:rPr lang="ru-RU" sz="1800" b="1" cap="all" dirty="0" smtClean="0">
                <a:latin typeface="Elektra Text Pro" panose="02000503030000020004" pitchFamily="50" charset="-52"/>
              </a:rPr>
              <a:t>размер </a:t>
            </a:r>
            <a:r>
              <a:rPr lang="ru-RU" sz="1800" b="1" cap="all" dirty="0">
                <a:latin typeface="Elektra Text Pro" panose="02000503030000020004" pitchFamily="50" charset="-52"/>
              </a:rPr>
              <a:t>не более </a:t>
            </a:r>
            <a:r>
              <a:rPr lang="en-US" sz="1800" b="1" dirty="0">
                <a:latin typeface="Elektra Text Pro" panose="02000503030000020004" pitchFamily="50" charset="-52"/>
              </a:rPr>
              <a:t>18 </a:t>
            </a:r>
            <a:r>
              <a:rPr lang="ru-RU" sz="1800" b="1" dirty="0">
                <a:latin typeface="Elektra Text Pro" panose="02000503030000020004" pitchFamily="50" charset="-52"/>
              </a:rPr>
              <a:t>п. </a:t>
            </a:r>
            <a:br>
              <a:rPr lang="ru-RU" sz="1800" b="1" dirty="0">
                <a:latin typeface="Elektra Text Pro" panose="02000503030000020004" pitchFamily="50" charset="-52"/>
              </a:rPr>
            </a:br>
            <a:r>
              <a:rPr lang="ru-RU" sz="1800" b="1" cap="all" dirty="0">
                <a:latin typeface="Elektra Text Pro" panose="02000503030000020004" pitchFamily="50" charset="-52"/>
              </a:rPr>
              <a:t>полужирный шрифт</a:t>
            </a:r>
            <a:r>
              <a:rPr lang="ru-RU" sz="1800" b="1" cap="all" dirty="0" smtClean="0">
                <a:latin typeface="Elektra Text Pro" panose="02000503030000020004" pitchFamily="50" charset="-52"/>
              </a:rPr>
              <a:t>, ПРОПИСНЫЕ </a:t>
            </a:r>
            <a:r>
              <a:rPr lang="ru-RU" sz="1800" b="1" cap="all" dirty="0">
                <a:latin typeface="Elektra Text Pro" panose="02000503030000020004" pitchFamily="50" charset="-52"/>
              </a:rPr>
              <a:t>БУКВЫ</a:t>
            </a:r>
            <a:endParaRPr lang="ru-RU" sz="1800" b="1" cap="all" dirty="0">
              <a:latin typeface="Elektra Text Pro"/>
            </a:endParaRPr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611558" y="3520595"/>
            <a:ext cx="7920880" cy="432048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dirty="0">
                <a:latin typeface="Elektra Text Pro"/>
              </a:rPr>
              <a:t>Выпускная квалификационная работа </a:t>
            </a:r>
            <a:r>
              <a:rPr lang="ru-RU" sz="1400" dirty="0" smtClean="0">
                <a:latin typeface="Elektra Text Pro"/>
              </a:rPr>
              <a:t>бакалавра/магистра</a:t>
            </a:r>
            <a:endParaRPr lang="ru-RU" sz="1400" dirty="0">
              <a:latin typeface="Elektra Text Pro"/>
            </a:endParaRP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3851920" y="4293096"/>
            <a:ext cx="4680520" cy="1584176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08138" indent="-1076325" defTabSz="356615">
              <a:spcBef>
                <a:spcPts val="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ru-RU" sz="1400" dirty="0">
                <a:solidFill>
                  <a:srgbClr val="000000"/>
                </a:solidFill>
                <a:latin typeface="Elektra Text Pro"/>
              </a:rPr>
              <a:t>Выполнил</a:t>
            </a:r>
            <a:r>
              <a:rPr lang="en-US" sz="1400" dirty="0">
                <a:solidFill>
                  <a:srgbClr val="000000"/>
                </a:solidFill>
                <a:latin typeface="Elektra Text Pro"/>
              </a:rPr>
              <a:t>:</a:t>
            </a:r>
            <a:r>
              <a:rPr lang="ru-RU" sz="1400" dirty="0">
                <a:solidFill>
                  <a:srgbClr val="000000"/>
                </a:solidFill>
                <a:latin typeface="Elektra Text Pro"/>
              </a:rPr>
              <a:t>	должность группа </a:t>
            </a:r>
            <a:br>
              <a:rPr lang="ru-RU" sz="1400" dirty="0">
                <a:solidFill>
                  <a:srgbClr val="000000"/>
                </a:solidFill>
                <a:latin typeface="Elektra Text Pro"/>
              </a:rPr>
            </a:br>
            <a:r>
              <a:rPr lang="ru-RU" sz="1400" dirty="0">
                <a:solidFill>
                  <a:srgbClr val="000000"/>
                </a:solidFill>
                <a:latin typeface="Elektra Text Pro"/>
              </a:rPr>
              <a:t>Фамилия И.О.</a:t>
            </a:r>
          </a:p>
          <a:p>
            <a:pPr marL="1608138" indent="-1076325">
              <a:spcBef>
                <a:spcPts val="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ru-RU" sz="1400" dirty="0">
                <a:solidFill>
                  <a:srgbClr val="000000"/>
                </a:solidFill>
                <a:latin typeface="Elektra Text Pro"/>
              </a:rPr>
              <a:t>Научный руководитель: звание, степень </a:t>
            </a:r>
            <a:br>
              <a:rPr lang="ru-RU" sz="1400" dirty="0">
                <a:solidFill>
                  <a:srgbClr val="000000"/>
                </a:solidFill>
                <a:latin typeface="Elektra Text Pro"/>
              </a:rPr>
            </a:br>
            <a:r>
              <a:rPr lang="ru-RU" sz="1400" dirty="0">
                <a:solidFill>
                  <a:srgbClr val="000000"/>
                </a:solidFill>
                <a:latin typeface="Elektra Text Pro"/>
              </a:rPr>
              <a:t>Фамилия И.О.</a:t>
            </a:r>
          </a:p>
          <a:p>
            <a:pPr marL="1608138" indent="-1076325">
              <a:spcBef>
                <a:spcPts val="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ru-RU" sz="1400" dirty="0">
                <a:solidFill>
                  <a:srgbClr val="000000"/>
                </a:solidFill>
                <a:latin typeface="Elektra Text Pro"/>
              </a:rPr>
              <a:t>Консультант:	должность / звание, степень</a:t>
            </a:r>
            <a:br>
              <a:rPr lang="ru-RU" sz="1400" dirty="0">
                <a:solidFill>
                  <a:srgbClr val="000000"/>
                </a:solidFill>
                <a:latin typeface="Elektra Text Pro"/>
              </a:rPr>
            </a:br>
            <a:r>
              <a:rPr lang="ru-RU" sz="1400" dirty="0">
                <a:solidFill>
                  <a:srgbClr val="000000"/>
                </a:solidFill>
                <a:latin typeface="Elektra Text Pro"/>
              </a:rPr>
              <a:t>Фамилия И.О.</a:t>
            </a:r>
          </a:p>
          <a:p>
            <a:pPr marL="1608138" indent="-10763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 panose="02000503030000020004" pitchFamily="50" charset="-52"/>
              </a:rPr>
              <a:t>Шрифт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 panose="02000503030000020004" pitchFamily="50" charset="-52"/>
              </a:rPr>
              <a:t>Electra Text Pro </a:t>
            </a:r>
            <a:r>
              <a:rPr lang="ru-RU" sz="1400" dirty="0">
                <a:latin typeface="Elektra Text Pro" panose="02000503030000020004" pitchFamily="50" charset="-52"/>
              </a:rPr>
              <a:t>размер не более 14п</a:t>
            </a:r>
            <a:endParaRPr lang="ru-RU" sz="1400" dirty="0">
              <a:solidFill>
                <a:srgbClr val="000000"/>
              </a:solidFill>
              <a:latin typeface="Elektra Text Pro"/>
            </a:endParaRPr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1331640" y="1160748"/>
            <a:ext cx="6480719" cy="54006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/>
              </a:rPr>
              <a:t>Институт информатики и кибернетики</a:t>
            </a:r>
            <a:b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/>
              </a:rPr>
            </a:br>
            <a: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/>
              </a:rPr>
              <a:t>Кафедра программных </a:t>
            </a:r>
            <a:r>
              <a:rPr lang="ru-RU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/>
              </a:rPr>
              <a:t>систем </a:t>
            </a:r>
            <a:endParaRPr lang="ru-RU" sz="1400" b="1" dirty="0">
              <a:solidFill>
                <a:schemeClr val="tx1">
                  <a:lumMod val="95000"/>
                  <a:lumOff val="5000"/>
                </a:schemeClr>
              </a:solidFill>
              <a:latin typeface="Elektra Text Pro"/>
            </a:endParaRPr>
          </a:p>
        </p:txBody>
      </p:sp>
      <p:sp>
        <p:nvSpPr>
          <p:cNvPr id="10" name="Объект 2"/>
          <p:cNvSpPr txBox="1">
            <a:spLocks/>
          </p:cNvSpPr>
          <p:nvPr/>
        </p:nvSpPr>
        <p:spPr>
          <a:xfrm>
            <a:off x="2411761" y="6093296"/>
            <a:ext cx="4320480" cy="504056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/>
              </a:rPr>
              <a:t>Самара 2022</a:t>
            </a:r>
            <a:endParaRPr lang="ru-RU" sz="1400" b="1" dirty="0">
              <a:solidFill>
                <a:schemeClr val="tx1">
                  <a:lumMod val="95000"/>
                  <a:lumOff val="5000"/>
                </a:schemeClr>
              </a:solidFill>
              <a:latin typeface="Elektra Text Pro"/>
            </a:endParaRPr>
          </a:p>
        </p:txBody>
      </p:sp>
      <p:pic>
        <p:nvPicPr>
          <p:cNvPr id="3074" name="Picture 2" descr="D:\DOCUM\!_КСЭ\СГАУ\Кафедра\2022_Презентация\logo_osnovnoy_goriz_RUS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820" y="683129"/>
            <a:ext cx="2985120" cy="47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6947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>
          <a:xfrm>
            <a:off x="251520" y="6093295"/>
            <a:ext cx="8640000" cy="540000"/>
          </a:xfrm>
          <a:solidFill>
            <a:srgbClr val="E6E6E6"/>
          </a:solidFill>
        </p:spPr>
        <p:txBody>
          <a:bodyPr/>
          <a:lstStyle/>
          <a:p>
            <a:pPr algn="l"/>
            <a:endParaRPr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342900"/>
            <a:ext cx="864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19" y="355605"/>
            <a:ext cx="8640001" cy="720725"/>
          </a:xfrm>
          <a:solidFill>
            <a:srgbClr val="E6E6E6"/>
          </a:solidFill>
        </p:spPr>
        <p:txBody>
          <a:bodyPr>
            <a:noAutofit/>
          </a:bodyPr>
          <a:lstStyle/>
          <a:p>
            <a:pPr algn="ctr"/>
            <a:r>
              <a:rPr lang="ru-RU" sz="1800" b="1" dirty="0">
                <a:latin typeface="Elektra Text Pro"/>
                <a:cs typeface="Arial" pitchFamily="34" charset="0"/>
              </a:rPr>
              <a:t>НАЗВАНИЕ СЛАЙДА В </a:t>
            </a:r>
            <a:r>
              <a:rPr lang="ru-RU" sz="1800" b="1" dirty="0" smtClean="0">
                <a:latin typeface="Elektra Text Pro"/>
                <a:cs typeface="Arial" pitchFamily="34" charset="0"/>
              </a:rPr>
              <a:t>1 ИЛИ 2 </a:t>
            </a:r>
            <a:r>
              <a:rPr lang="ru-RU" sz="1800" b="1" dirty="0">
                <a:latin typeface="Elektra Text Pro"/>
                <a:cs typeface="Arial" pitchFamily="34" charset="0"/>
              </a:rPr>
              <a:t>СТРОКИ </a:t>
            </a:r>
            <a:br>
              <a:rPr lang="ru-RU" sz="1800" b="1" dirty="0">
                <a:latin typeface="Elektra Text Pro"/>
                <a:cs typeface="Arial" pitchFamily="34" charset="0"/>
              </a:rPr>
            </a:br>
            <a:r>
              <a:rPr lang="ru-RU" sz="1800" b="1" dirty="0">
                <a:latin typeface="Elektra Text Pro"/>
                <a:cs typeface="Arial" pitchFamily="34" charset="0"/>
              </a:rPr>
              <a:t>ПРОПИСНЫЕ БУКВЫ, ПОЛУЖИРНЫЙ ШРИФТ 18 ПТ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268760"/>
            <a:ext cx="8640000" cy="4610099"/>
          </a:xfrm>
        </p:spPr>
        <p:txBody>
          <a:bodyPr>
            <a:normAutofit/>
          </a:bodyPr>
          <a:lstStyle/>
          <a:p>
            <a:r>
              <a:rPr lang="ru-RU" sz="1800" dirty="0"/>
              <a:t>Фирменный шрифт </a:t>
            </a:r>
            <a:r>
              <a:rPr lang="en-US" sz="1800" dirty="0"/>
              <a:t>Electra Text Pro </a:t>
            </a:r>
            <a:r>
              <a:rPr lang="ru-RU" sz="1800" dirty="0"/>
              <a:t>внедрен в файл презентации для отображения на компьютерах, на которых данный шрифт отсутствует. </a:t>
            </a:r>
            <a:endParaRPr lang="ru-RU" sz="1800" dirty="0" smtClean="0"/>
          </a:p>
          <a:p>
            <a:r>
              <a:rPr lang="ru-RU" sz="1800" dirty="0" smtClean="0"/>
              <a:t>Для текста возможно использование шрифтов </a:t>
            </a:r>
            <a:r>
              <a:rPr lang="en-US" sz="1800" dirty="0" smtClean="0"/>
              <a:t>Arial  </a:t>
            </a:r>
            <a:r>
              <a:rPr lang="ru-RU" sz="1800" dirty="0" smtClean="0"/>
              <a:t>и </a:t>
            </a:r>
            <a:r>
              <a:rPr lang="en-US" sz="1800" dirty="0" smtClean="0"/>
              <a:t>Times New Roman/ </a:t>
            </a:r>
            <a:endParaRPr lang="ru-RU" sz="1800" dirty="0" smtClean="0"/>
          </a:p>
          <a:p>
            <a:endParaRPr lang="ru-RU" sz="1800" dirty="0"/>
          </a:p>
        </p:txBody>
      </p:sp>
      <p:sp>
        <p:nvSpPr>
          <p:cNvPr id="9" name="TextBox 8"/>
          <p:cNvSpPr txBox="1"/>
          <p:nvPr/>
        </p:nvSpPr>
        <p:spPr>
          <a:xfrm>
            <a:off x="8172400" y="6165306"/>
            <a:ext cx="70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9A5D52-88F9-4971-91E7-95B02B6DE201}" type="slidenum">
              <a:rPr lang="ru-RU" smtClean="0"/>
              <a:pPr algn="r"/>
              <a:t>2</a:t>
            </a:fld>
            <a:r>
              <a:rPr lang="ru-RU" dirty="0" smtClean="0"/>
              <a:t>/ХХ</a:t>
            </a:r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251520" y="6112445"/>
            <a:ext cx="7200800" cy="520850"/>
          </a:xfrm>
          <a:prstGeom prst="rect">
            <a:avLst/>
          </a:prstGeom>
          <a:solidFill>
            <a:srgbClr val="E6E6E6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Elektra Text Pro"/>
                <a:cs typeface="Arial" pitchFamily="34" charset="0"/>
              </a:rPr>
              <a:t>Тема ВКР. </a:t>
            </a:r>
            <a:r>
              <a:rPr lang="ru-RU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Elektra Text Pro"/>
                <a:cs typeface="Arial" pitchFamily="34" charset="0"/>
              </a:rPr>
              <a:t>Шрифт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 panose="02000503030000020004" pitchFamily="50" charset="-52"/>
              </a:rPr>
              <a:t>Electra Text </a:t>
            </a:r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 panose="02000503030000020004" pitchFamily="50" charset="-52"/>
              </a:rPr>
              <a:t>Pro</a:t>
            </a:r>
            <a: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 panose="02000503030000020004" pitchFamily="50" charset="-52"/>
              </a:rPr>
              <a:t>, размер</a:t>
            </a:r>
            <a:r>
              <a:rPr lang="ru-RU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 panose="02000503030000020004" pitchFamily="50" charset="-52"/>
              </a:rPr>
              <a:t> </a:t>
            </a:r>
            <a:r>
              <a:rPr lang="ru-RU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Elektra Text Pro"/>
                <a:cs typeface="Arial" pitchFamily="34" charset="0"/>
              </a:rPr>
              <a:t>14 </a:t>
            </a:r>
            <a:r>
              <a:rPr lang="ru-RU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Elektra Text Pro"/>
                <a:cs typeface="Arial" pitchFamily="34" charset="0"/>
              </a:rPr>
              <a:t>пт</a:t>
            </a:r>
            <a:endParaRPr lang="ru-RU" sz="1400" dirty="0">
              <a:solidFill>
                <a:schemeClr val="tx1">
                  <a:lumMod val="75000"/>
                  <a:lumOff val="25000"/>
                </a:schemeClr>
              </a:solidFill>
              <a:latin typeface="Elektra Text Pro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04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>
          <a:xfrm>
            <a:off x="251520" y="6093295"/>
            <a:ext cx="8640000" cy="540000"/>
          </a:xfrm>
          <a:solidFill>
            <a:srgbClr val="E6E6E6"/>
          </a:solidFill>
        </p:spPr>
        <p:txBody>
          <a:bodyPr/>
          <a:lstStyle/>
          <a:p>
            <a:pPr algn="l"/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Elektra Text Pro"/>
                <a:cs typeface="Arial" pitchFamily="34" charset="0"/>
              </a:rPr>
              <a:t>Тема ВКР. </a:t>
            </a:r>
            <a:r>
              <a:rPr lang="ru-RU" sz="1400" dirty="0" smtClean="0">
                <a:latin typeface="Elektra Text Pro"/>
                <a:cs typeface="Arial" pitchFamily="34" charset="0"/>
              </a:rPr>
              <a:t>шрифт </a:t>
            </a:r>
            <a:r>
              <a:rPr lang="ru-RU" sz="1400" dirty="0">
                <a:latin typeface="Elektra Text Pro"/>
                <a:cs typeface="Arial" pitchFamily="34" charset="0"/>
              </a:rPr>
              <a:t>14 </a:t>
            </a:r>
            <a:r>
              <a:rPr lang="ru-RU" sz="1400" dirty="0" err="1" smtClean="0">
                <a:latin typeface="Elektra Text Pro"/>
                <a:cs typeface="Arial" pitchFamily="34" charset="0"/>
              </a:rPr>
              <a:t>пт</a:t>
            </a:r>
            <a:endParaRPr lang="ru-RU" sz="1400" dirty="0">
              <a:solidFill>
                <a:schemeClr val="tx1">
                  <a:lumMod val="50000"/>
                  <a:lumOff val="50000"/>
                </a:schemeClr>
              </a:solidFill>
              <a:latin typeface="Elektra Text Pro"/>
              <a:cs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342900"/>
            <a:ext cx="8640000" cy="720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355605"/>
            <a:ext cx="8640000" cy="720725"/>
          </a:xfrm>
          <a:solidFill>
            <a:srgbClr val="E6E6E6"/>
          </a:solidFill>
        </p:spPr>
        <p:txBody>
          <a:bodyPr>
            <a:noAutofit/>
          </a:bodyPr>
          <a:lstStyle/>
          <a:p>
            <a:pPr algn="ctr"/>
            <a:r>
              <a:rPr lang="ru-RU" sz="1800" b="1" dirty="0">
                <a:latin typeface="Arial" pitchFamily="34" charset="0"/>
                <a:cs typeface="Arial" pitchFamily="34" charset="0"/>
              </a:rPr>
              <a:t>НАЗВАНИЕ СЛАЙДА В </a:t>
            </a:r>
            <a:r>
              <a:rPr lang="ru-RU" sz="1800" b="1" dirty="0" smtClean="0">
                <a:latin typeface="Arial" pitchFamily="34" charset="0"/>
                <a:cs typeface="Arial" pitchFamily="34" charset="0"/>
              </a:rPr>
              <a:t>1 СТРОКУ ПРОПИСНЫЕ </a:t>
            </a:r>
            <a:r>
              <a:rPr lang="ru-RU" sz="1800" b="1" dirty="0">
                <a:latin typeface="Arial" pitchFamily="34" charset="0"/>
                <a:cs typeface="Arial" pitchFamily="34" charset="0"/>
              </a:rPr>
              <a:t>БУКВЫ, </a:t>
            </a:r>
            <a:r>
              <a:rPr lang="ru-RU" sz="1800" b="1" dirty="0" smtClean="0">
                <a:latin typeface="Arial" pitchFamily="34" charset="0"/>
                <a:cs typeface="Arial" pitchFamily="34" charset="0"/>
              </a:rPr>
              <a:t>П/Ж ШРИФТ </a:t>
            </a:r>
            <a:r>
              <a:rPr lang="ru-RU" sz="1800" b="1" dirty="0">
                <a:latin typeface="Arial" pitchFamily="34" charset="0"/>
                <a:cs typeface="Arial" pitchFamily="34" charset="0"/>
              </a:rPr>
              <a:t>18 </a:t>
            </a:r>
            <a:r>
              <a:rPr lang="ru-RU" sz="1800" b="1" dirty="0" smtClean="0">
                <a:latin typeface="Arial" pitchFamily="34" charset="0"/>
                <a:cs typeface="Arial" pitchFamily="34" charset="0"/>
              </a:rPr>
              <a:t>ПТ</a:t>
            </a:r>
            <a:endParaRPr lang="ru-RU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268760"/>
            <a:ext cx="8640000" cy="4610099"/>
          </a:xfrm>
        </p:spPr>
        <p:txBody>
          <a:bodyPr>
            <a:normAutofit/>
          </a:bodyPr>
          <a:lstStyle/>
          <a:p>
            <a:r>
              <a:rPr lang="ru-RU" sz="1800" dirty="0" smtClean="0">
                <a:latin typeface="Elektra Text Pro"/>
              </a:rPr>
              <a:t>Последний слайд</a:t>
            </a:r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8100392" y="6165306"/>
            <a:ext cx="772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9A5D52-88F9-4971-91E7-95B02B6DE201}" type="slidenum">
              <a:rPr lang="ru-RU" smtClean="0"/>
              <a:pPr algn="r"/>
              <a:t>3</a:t>
            </a:fld>
            <a:r>
              <a:rPr lang="ru-RU" dirty="0" smtClean="0"/>
              <a:t>/ХХ</a:t>
            </a:r>
            <a:endParaRPr lang="ru-RU" dirty="0"/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1871221" y="5374803"/>
            <a:ext cx="5400598" cy="504056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 panose="02000503030000020004" pitchFamily="50" charset="-52"/>
              </a:rPr>
              <a:t>БЛАГОДАРЮ ЗА </a:t>
            </a:r>
            <a:r>
              <a:rPr lang="ru-RU" sz="1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 panose="02000503030000020004" pitchFamily="50" charset="-52"/>
              </a:rPr>
              <a:t>ВНИМАНИЕ!</a:t>
            </a:r>
            <a:endParaRPr lang="ru-RU" sz="1800" b="1" dirty="0">
              <a:solidFill>
                <a:schemeClr val="tx1">
                  <a:lumMod val="95000"/>
                  <a:lumOff val="5000"/>
                </a:schemeClr>
              </a:solidFill>
              <a:latin typeface="Elektra Text Pro" panose="0200050303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74927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51519" y="548679"/>
            <a:ext cx="8640959" cy="1296313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2951820" y="548679"/>
            <a:ext cx="5805000" cy="5904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1558" y="2061016"/>
            <a:ext cx="7920882" cy="1512000"/>
          </a:xfrm>
          <a:noFill/>
        </p:spPr>
        <p:txBody>
          <a:bodyPr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cap="all" dirty="0" smtClean="0">
                <a:latin typeface="Elektra Text Pro"/>
              </a:rPr>
              <a:t>Разработка программного имитатора гидроагрегатов на платформе имитационного моделирования SIMIT для тестирования программных модулей </a:t>
            </a:r>
            <a:r>
              <a:rPr lang="ru-RU" sz="1800" b="1" cap="all" dirty="0">
                <a:latin typeface="Elektra Text Pro"/>
              </a:rPr>
              <a:t>системы </a:t>
            </a:r>
            <a:r>
              <a:rPr lang="ru-RU" sz="1800" b="1" cap="all" dirty="0" smtClean="0">
                <a:latin typeface="Elektra Text Pro"/>
              </a:rPr>
              <a:t>управления </a:t>
            </a:r>
            <a:r>
              <a:rPr lang="ru-RU" sz="1800" b="1" cap="all" dirty="0">
                <a:latin typeface="Elektra Text Pro"/>
              </a:rPr>
              <a:t>ГЭС</a:t>
            </a:r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611558" y="3520595"/>
            <a:ext cx="7920880" cy="432048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dirty="0">
                <a:latin typeface="Elektra Text Pro"/>
              </a:rPr>
              <a:t>Выпускная квалификационная работа </a:t>
            </a:r>
            <a:r>
              <a:rPr lang="ru-RU" sz="1400" dirty="0" smtClean="0">
                <a:latin typeface="Elektra Text Pro"/>
              </a:rPr>
              <a:t>бакалавра/магистра</a:t>
            </a:r>
            <a:endParaRPr lang="ru-RU" sz="1400" dirty="0">
              <a:latin typeface="Elektra Text Pro"/>
            </a:endParaRP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3851920" y="4293096"/>
            <a:ext cx="4680520" cy="1584176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08138" indent="-1076325" defTabSz="356615">
              <a:spcBef>
                <a:spcPts val="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ru-RU" sz="1400" dirty="0">
                <a:solidFill>
                  <a:srgbClr val="000000"/>
                </a:solidFill>
                <a:latin typeface="Elektra Text Pro"/>
              </a:rPr>
              <a:t>Выполнил</a:t>
            </a:r>
            <a:r>
              <a:rPr lang="en-US" sz="1400" dirty="0" smtClean="0">
                <a:solidFill>
                  <a:srgbClr val="000000"/>
                </a:solidFill>
                <a:latin typeface="Elektra Text Pro"/>
              </a:rPr>
              <a:t>:</a:t>
            </a:r>
            <a:r>
              <a:rPr lang="ru-RU" sz="1400" dirty="0" smtClean="0">
                <a:solidFill>
                  <a:srgbClr val="000000"/>
                </a:solidFill>
                <a:latin typeface="Elektra Text Pro"/>
              </a:rPr>
              <a:t>	обучающийся гр.6400-</a:t>
            </a:r>
            <a:r>
              <a:rPr lang="en-US" sz="1400" dirty="0">
                <a:solidFill>
                  <a:srgbClr val="000000"/>
                </a:solidFill>
                <a:latin typeface="Elektra Text Pro"/>
              </a:rPr>
              <a:t>020302D </a:t>
            </a:r>
            <a:r>
              <a:rPr lang="ru-RU" sz="1400" dirty="0" smtClean="0">
                <a:solidFill>
                  <a:srgbClr val="000000"/>
                </a:solidFill>
                <a:latin typeface="Elektra Text Pro"/>
              </a:rPr>
              <a:t>Петров П.П.</a:t>
            </a:r>
            <a:endParaRPr lang="ru-RU" sz="1400" dirty="0">
              <a:solidFill>
                <a:srgbClr val="000000"/>
              </a:solidFill>
              <a:latin typeface="Elektra Text Pro"/>
            </a:endParaRPr>
          </a:p>
          <a:p>
            <a:pPr marL="1608138" indent="-1076325">
              <a:spcBef>
                <a:spcPts val="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ru-RU" sz="1400" dirty="0">
                <a:solidFill>
                  <a:srgbClr val="000000"/>
                </a:solidFill>
                <a:latin typeface="Elektra Text Pro"/>
              </a:rPr>
              <a:t>Научный </a:t>
            </a:r>
            <a:r>
              <a:rPr lang="ru-RU" sz="1400" dirty="0" smtClean="0">
                <a:solidFill>
                  <a:srgbClr val="000000"/>
                </a:solidFill>
                <a:latin typeface="Elektra Text Pro"/>
              </a:rPr>
              <a:t>руководитель: доцент</a:t>
            </a:r>
            <a:r>
              <a:rPr lang="ru-RU" sz="1400" dirty="0">
                <a:solidFill>
                  <a:srgbClr val="000000"/>
                </a:solidFill>
                <a:latin typeface="Elektra Text Pro"/>
              </a:rPr>
              <a:t>,  к.т.н. </a:t>
            </a:r>
            <a:r>
              <a:rPr lang="ru-RU" sz="1400" dirty="0" smtClean="0">
                <a:solidFill>
                  <a:srgbClr val="000000"/>
                </a:solidFill>
                <a:latin typeface="Elektra Text Pro"/>
              </a:rPr>
              <a:t/>
            </a:r>
            <a:br>
              <a:rPr lang="ru-RU" sz="1400" dirty="0" smtClean="0">
                <a:solidFill>
                  <a:srgbClr val="000000"/>
                </a:solidFill>
                <a:latin typeface="Elektra Text Pro"/>
              </a:rPr>
            </a:br>
            <a:r>
              <a:rPr lang="ru-RU" sz="1400" dirty="0" smtClean="0">
                <a:solidFill>
                  <a:srgbClr val="000000"/>
                </a:solidFill>
                <a:latin typeface="Elektra Text Pro"/>
              </a:rPr>
              <a:t>Сидоров С.С.</a:t>
            </a:r>
            <a:endParaRPr lang="ru-RU" sz="1400" dirty="0">
              <a:solidFill>
                <a:srgbClr val="000000"/>
              </a:solidFill>
              <a:latin typeface="Elektra Text Pro"/>
            </a:endParaRPr>
          </a:p>
          <a:p>
            <a:pPr marL="1608138" indent="-1076325">
              <a:spcBef>
                <a:spcPts val="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ru-RU" sz="1400" dirty="0" smtClean="0">
                <a:solidFill>
                  <a:srgbClr val="000000"/>
                </a:solidFill>
                <a:latin typeface="Elektra Text Pro"/>
              </a:rPr>
              <a:t>Консультант:	ассистент </a:t>
            </a:r>
            <a:br>
              <a:rPr lang="ru-RU" sz="1400" dirty="0" smtClean="0">
                <a:solidFill>
                  <a:srgbClr val="000000"/>
                </a:solidFill>
                <a:latin typeface="Elektra Text Pro"/>
              </a:rPr>
            </a:br>
            <a:r>
              <a:rPr lang="ru-RU" sz="1400" dirty="0" smtClean="0">
                <a:solidFill>
                  <a:srgbClr val="000000"/>
                </a:solidFill>
                <a:latin typeface="Elektra Text Pro"/>
              </a:rPr>
              <a:t>Иванов И.И.</a:t>
            </a:r>
            <a:endParaRPr lang="ru-RU" sz="1400" dirty="0">
              <a:solidFill>
                <a:srgbClr val="000000"/>
              </a:solidFill>
              <a:latin typeface="Elektra Text Pro"/>
            </a:endParaRPr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1331640" y="1052736"/>
            <a:ext cx="6480719" cy="648072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/>
              </a:rPr>
              <a:t>Институт информатики и кибернетики</a:t>
            </a:r>
            <a:b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/>
              </a:rPr>
            </a:br>
            <a: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/>
              </a:rPr>
              <a:t>Кафедра программных </a:t>
            </a:r>
            <a:r>
              <a:rPr lang="ru-RU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/>
              </a:rPr>
              <a:t>систем </a:t>
            </a:r>
            <a:endParaRPr lang="ru-RU" sz="1400" b="1" dirty="0">
              <a:solidFill>
                <a:schemeClr val="tx1">
                  <a:lumMod val="95000"/>
                  <a:lumOff val="5000"/>
                </a:schemeClr>
              </a:solidFill>
              <a:latin typeface="Elektra Text Pro"/>
            </a:endParaRPr>
          </a:p>
        </p:txBody>
      </p:sp>
      <p:sp>
        <p:nvSpPr>
          <p:cNvPr id="10" name="Объект 2"/>
          <p:cNvSpPr txBox="1">
            <a:spLocks/>
          </p:cNvSpPr>
          <p:nvPr/>
        </p:nvSpPr>
        <p:spPr>
          <a:xfrm>
            <a:off x="2411761" y="6093296"/>
            <a:ext cx="4320480" cy="504056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/>
              </a:rPr>
              <a:t>Самара 2022</a:t>
            </a:r>
            <a:endParaRPr lang="ru-RU" sz="1400" b="1" dirty="0">
              <a:solidFill>
                <a:schemeClr val="tx1">
                  <a:lumMod val="95000"/>
                  <a:lumOff val="5000"/>
                </a:schemeClr>
              </a:solidFill>
              <a:latin typeface="Elektra Text Pro"/>
            </a:endParaRPr>
          </a:p>
        </p:txBody>
      </p:sp>
      <p:pic>
        <p:nvPicPr>
          <p:cNvPr id="1026" name="Picture 2" descr="D:\DOCUM\!_КСЭ\СГАУ\Кафедра\2022_Презентация\Firm blocks_centre_Ru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8624" y="1138321"/>
            <a:ext cx="2232248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D:\DOCUM\!_КСЭ\СГАУ\Кафедра\2022_Презентация\logo_osnovnoy_goriz_RUS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820" y="683129"/>
            <a:ext cx="2985120" cy="47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830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>
          <a:xfrm>
            <a:off x="251520" y="6093295"/>
            <a:ext cx="8640000" cy="540000"/>
          </a:xfrm>
          <a:solidFill>
            <a:srgbClr val="E6E6E6"/>
          </a:solidFill>
        </p:spPr>
        <p:txBody>
          <a:bodyPr/>
          <a:lstStyle/>
          <a:p>
            <a:pPr algn="l"/>
            <a:endParaRPr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342900"/>
            <a:ext cx="864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19" y="355605"/>
            <a:ext cx="8640001" cy="720725"/>
          </a:xfrm>
          <a:solidFill>
            <a:srgbClr val="E6E6E6"/>
          </a:solidFill>
        </p:spPr>
        <p:txBody>
          <a:bodyPr>
            <a:noAutofit/>
          </a:bodyPr>
          <a:lstStyle/>
          <a:p>
            <a:pPr algn="ctr"/>
            <a:r>
              <a:rPr lang="ru-RU" sz="1800" b="1" dirty="0" smtClean="0">
                <a:latin typeface="Arial" pitchFamily="34" charset="0"/>
                <a:cs typeface="Arial" pitchFamily="34" charset="0"/>
              </a:rPr>
              <a:t>ПРИМЕР:   ПРЕДМЕТНАЯ </a:t>
            </a:r>
            <a:r>
              <a:rPr lang="ru-RU" sz="1800" b="1" dirty="0">
                <a:latin typeface="Arial" pitchFamily="34" charset="0"/>
                <a:cs typeface="Arial" pitchFamily="34" charset="0"/>
              </a:rPr>
              <a:t>ОБЛАСТЬ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2400" y="6165306"/>
            <a:ext cx="70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9A5D52-88F9-4971-91E7-95B02B6DE201}" type="slidenum">
              <a:rPr lang="ru-RU" smtClean="0"/>
              <a:pPr algn="r"/>
              <a:t>5</a:t>
            </a:fld>
            <a:r>
              <a:rPr lang="ru-RU" dirty="0" smtClean="0"/>
              <a:t>/20</a:t>
            </a:r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251519" y="6112445"/>
            <a:ext cx="7200800" cy="520850"/>
          </a:xfrm>
          <a:prstGeom prst="rect">
            <a:avLst/>
          </a:prstGeom>
          <a:solidFill>
            <a:srgbClr val="E6E6E6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Elektra Text Pro"/>
                <a:cs typeface="Arial" pitchFamily="34" charset="0"/>
              </a:rPr>
              <a:t>Разработка информационной системы управления 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Elektra Text Pro"/>
                <a:cs typeface="Arial" pitchFamily="34" charset="0"/>
              </a:rPr>
              <a:t>IT-</a:t>
            </a:r>
            <a:r>
              <a:rPr lang="ru-RU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Elektra Text Pro"/>
                <a:cs typeface="Arial" pitchFamily="34" charset="0"/>
              </a:rPr>
              <a:t>проектами</a:t>
            </a:r>
            <a:endParaRPr lang="ru-RU" sz="1400" dirty="0">
              <a:solidFill>
                <a:schemeClr val="tx1">
                  <a:lumMod val="75000"/>
                  <a:lumOff val="25000"/>
                </a:schemeClr>
              </a:solidFill>
              <a:latin typeface="Elektra Text Pro"/>
              <a:cs typeface="Arial" pitchFamily="34" charset="0"/>
            </a:endParaRPr>
          </a:p>
        </p:txBody>
      </p:sp>
      <p:pic>
        <p:nvPicPr>
          <p:cNvPr id="1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66" y="1394143"/>
            <a:ext cx="7802880" cy="4358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8137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>
          <a:xfrm>
            <a:off x="251520" y="6093295"/>
            <a:ext cx="8640000" cy="540000"/>
          </a:xfrm>
          <a:solidFill>
            <a:srgbClr val="E6E6E6"/>
          </a:solidFill>
        </p:spPr>
        <p:txBody>
          <a:bodyPr/>
          <a:lstStyle/>
          <a:p>
            <a:pPr algn="l"/>
            <a:endParaRPr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342900"/>
            <a:ext cx="864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19" y="355605"/>
            <a:ext cx="8640001" cy="720725"/>
          </a:xfrm>
          <a:solidFill>
            <a:srgbClr val="E6E6E6"/>
          </a:solidFill>
        </p:spPr>
        <p:txBody>
          <a:bodyPr>
            <a:noAutofit/>
          </a:bodyPr>
          <a:lstStyle/>
          <a:p>
            <a:pPr algn="ctr"/>
            <a:r>
              <a:rPr lang="ru-RU" sz="1800" b="1" dirty="0">
                <a:latin typeface="Arial" pitchFamily="34" charset="0"/>
                <a:cs typeface="Arial" pitchFamily="34" charset="0"/>
              </a:rPr>
              <a:t>ПРИМЕР: </a:t>
            </a:r>
            <a:r>
              <a:rPr lang="ru-RU" sz="1800" b="1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ru-RU" sz="1800" b="1" cap="all" dirty="0" smtClean="0">
                <a:latin typeface="Arial" pitchFamily="34" charset="0"/>
                <a:cs typeface="Arial" pitchFamily="34" charset="0"/>
              </a:rPr>
              <a:t>АНАЛИЗ ПРЕДМЕТНОЙ ОБЛАСТИ</a:t>
            </a:r>
            <a:endParaRPr lang="ru-RU" sz="1800" b="1" cap="al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72400" y="6165306"/>
            <a:ext cx="70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9A5D52-88F9-4971-91E7-95B02B6DE201}" type="slidenum">
              <a:rPr lang="ru-RU" smtClean="0"/>
              <a:pPr algn="r"/>
              <a:t>6</a:t>
            </a:fld>
            <a:r>
              <a:rPr lang="ru-RU" dirty="0" smtClean="0"/>
              <a:t>/20</a:t>
            </a:r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251520" y="6112445"/>
            <a:ext cx="7200800" cy="520850"/>
          </a:xfrm>
          <a:prstGeom prst="rect">
            <a:avLst/>
          </a:prstGeom>
          <a:solidFill>
            <a:srgbClr val="E6E6E6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1200"/>
              </a:spcAft>
            </a:pP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Elektra Text Pro"/>
                <a:cs typeface="Arial" pitchFamily="34" charset="0"/>
              </a:rPr>
              <a:t>Разработка автоматизированной системы учета рабочего времени </a:t>
            </a:r>
            <a:b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Elektra Text Pro"/>
                <a:cs typeface="Arial" pitchFamily="34" charset="0"/>
              </a:rPr>
            </a:b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Elektra Text Pro"/>
                <a:cs typeface="Arial" pitchFamily="34" charset="0"/>
              </a:rPr>
              <a:t>в ООО "</a:t>
            </a:r>
            <a:r>
              <a:rPr lang="ru-RU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Elektra Text Pro"/>
                <a:cs typeface="Arial" pitchFamily="34" charset="0"/>
              </a:rPr>
              <a:t>НетКрэкер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Elektra Text Pro"/>
                <a:cs typeface="Arial" pitchFamily="34" charset="0"/>
              </a:rPr>
              <a:t>"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252000" y="1268760"/>
            <a:ext cx="8640000" cy="463937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1800" dirty="0">
                <a:latin typeface="Elektra Text Pro"/>
              </a:rPr>
              <a:t>Автоматизация процесса учета рабочего времени позволяет:</a:t>
            </a:r>
          </a:p>
          <a:p>
            <a:pPr marL="540000"/>
            <a:r>
              <a:rPr lang="ru-RU" sz="1800" dirty="0">
                <a:latin typeface="Elektra Text Pro"/>
              </a:rPr>
              <a:t>избавиться от бумажных табелей;</a:t>
            </a:r>
          </a:p>
          <a:p>
            <a:pPr marL="540000"/>
            <a:r>
              <a:rPr lang="ru-RU" sz="1800" dirty="0">
                <a:latin typeface="Elektra Text Pro"/>
              </a:rPr>
              <a:t>упросить механизм учета рабочего времени со стороны рядовых сотрудников;</a:t>
            </a:r>
          </a:p>
          <a:p>
            <a:pPr marL="540000"/>
            <a:r>
              <a:rPr lang="ru-RU" sz="1800" dirty="0">
                <a:latin typeface="Elektra Text Pro"/>
              </a:rPr>
              <a:t>упростить механизм утверждения учтенного времени со стороны руководителей;</a:t>
            </a:r>
          </a:p>
          <a:p>
            <a:pPr marL="540000"/>
            <a:r>
              <a:rPr lang="ru-RU" sz="1800" dirty="0">
                <a:latin typeface="Elektra Text Pro"/>
              </a:rPr>
              <a:t>использовать цифровые табели для расчета оплаты труда.</a:t>
            </a:r>
          </a:p>
          <a:p>
            <a:pPr>
              <a:buNone/>
            </a:pPr>
            <a:endParaRPr lang="ru-RU" sz="1800" dirty="0">
              <a:latin typeface="Elektra Text Pro"/>
            </a:endParaRPr>
          </a:p>
          <a:p>
            <a:pPr>
              <a:buNone/>
            </a:pPr>
            <a:r>
              <a:rPr lang="ru-RU" sz="1800" dirty="0">
                <a:latin typeface="Elektra Text Pro"/>
              </a:rPr>
              <a:t>Актуальность проблемы для ООО «</a:t>
            </a:r>
            <a:r>
              <a:rPr lang="ru-RU" sz="1800" dirty="0" err="1">
                <a:latin typeface="Elektra Text Pro"/>
              </a:rPr>
              <a:t>НетКрэкер</a:t>
            </a:r>
            <a:r>
              <a:rPr lang="ru-RU" sz="1800" dirty="0">
                <a:latin typeface="Elektra Text Pro"/>
              </a:rPr>
              <a:t>»:</a:t>
            </a:r>
          </a:p>
          <a:p>
            <a:pPr marL="540000"/>
            <a:r>
              <a:rPr lang="ru-RU" sz="1800" dirty="0">
                <a:latin typeface="Elektra Text Pro"/>
              </a:rPr>
              <a:t>большой штат сотрудников (более 3500 чел. в России);</a:t>
            </a:r>
          </a:p>
          <a:p>
            <a:pPr marL="540000"/>
            <a:r>
              <a:rPr lang="ru-RU" sz="1800" dirty="0">
                <a:latin typeface="Elektra Text Pro"/>
              </a:rPr>
              <a:t>наличие одного и более формального руководителя у каждого сотрудника компании.</a:t>
            </a:r>
          </a:p>
          <a:p>
            <a:endParaRPr lang="ru-RU" sz="1800" dirty="0">
              <a:latin typeface="Elektra Text Pro"/>
            </a:endParaRPr>
          </a:p>
        </p:txBody>
      </p:sp>
    </p:spTree>
    <p:extLst>
      <p:ext uri="{BB962C8B-B14F-4D97-AF65-F5344CB8AC3E}">
        <p14:creationId xmlns:p14="http://schemas.microsoft.com/office/powerpoint/2010/main" val="78399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>
          <a:xfrm>
            <a:off x="251520" y="6093295"/>
            <a:ext cx="8640000" cy="540000"/>
          </a:xfrm>
          <a:solidFill>
            <a:srgbClr val="E6E6E6"/>
          </a:solidFill>
        </p:spPr>
        <p:txBody>
          <a:bodyPr/>
          <a:lstStyle/>
          <a:p>
            <a:pPr algn="l"/>
            <a:endParaRPr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342900"/>
            <a:ext cx="864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19" y="355605"/>
            <a:ext cx="8640001" cy="720725"/>
          </a:xfrm>
          <a:solidFill>
            <a:srgbClr val="E6E6E6"/>
          </a:solidFill>
        </p:spPr>
        <p:txBody>
          <a:bodyPr>
            <a:noAutofit/>
          </a:bodyPr>
          <a:lstStyle/>
          <a:p>
            <a:pPr algn="ctr"/>
            <a:r>
              <a:rPr lang="ru-RU" sz="1800" b="1" dirty="0">
                <a:latin typeface="Arial" pitchFamily="34" charset="0"/>
                <a:cs typeface="Arial" pitchFamily="34" charset="0"/>
              </a:rPr>
              <a:t>ПРИМЕР: </a:t>
            </a:r>
            <a:r>
              <a:rPr lang="ru-RU" sz="1800" b="1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ru-RU" sz="1800" b="1" cap="all" dirty="0" smtClean="0">
                <a:latin typeface="Arial" pitchFamily="34" charset="0"/>
                <a:cs typeface="Arial" pitchFamily="34" charset="0"/>
              </a:rPr>
              <a:t>Диаграмма компонентов</a:t>
            </a:r>
            <a:endParaRPr lang="ru-RU" sz="1800" b="1" cap="al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72400" y="6165306"/>
            <a:ext cx="70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9A5D52-88F9-4971-91E7-95B02B6DE201}" type="slidenum">
              <a:rPr lang="ru-RU" smtClean="0"/>
              <a:pPr algn="r"/>
              <a:t>7</a:t>
            </a:fld>
            <a:r>
              <a:rPr lang="ru-RU" dirty="0" smtClean="0"/>
              <a:t>/20</a:t>
            </a:r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251520" y="6112445"/>
            <a:ext cx="7200800" cy="520850"/>
          </a:xfrm>
          <a:prstGeom prst="rect">
            <a:avLst/>
          </a:prstGeom>
          <a:solidFill>
            <a:srgbClr val="E6E6E6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400" dirty="0">
                <a:latin typeface="Elektra Text Pro"/>
              </a:rPr>
              <a:t>Разработка программного имитатора гидроагрегатов на платформе </a:t>
            </a:r>
            <a:r>
              <a:rPr lang="ru-RU" sz="1400" dirty="0" smtClean="0">
                <a:latin typeface="Elektra Text Pro"/>
              </a:rPr>
              <a:t/>
            </a:r>
            <a:br>
              <a:rPr lang="ru-RU" sz="1400" dirty="0" smtClean="0">
                <a:latin typeface="Elektra Text Pro"/>
              </a:rPr>
            </a:br>
            <a:r>
              <a:rPr lang="ru-RU" sz="1400" dirty="0" smtClean="0">
                <a:latin typeface="Elektra Text Pro"/>
              </a:rPr>
              <a:t>имитационного </a:t>
            </a:r>
            <a:r>
              <a:rPr lang="ru-RU" sz="1400" dirty="0">
                <a:latin typeface="Elektra Text Pro"/>
              </a:rPr>
              <a:t>моделирования SIMIT для </a:t>
            </a:r>
            <a:r>
              <a:rPr lang="ru-RU" sz="1400" dirty="0" smtClean="0">
                <a:latin typeface="Elektra Text Pro"/>
              </a:rPr>
              <a:t>…</a:t>
            </a:r>
            <a:endParaRPr lang="ru-RU" sz="1400" dirty="0">
              <a:latin typeface="Elektra Text Pro"/>
            </a:endParaRPr>
          </a:p>
        </p:txBody>
      </p:sp>
      <p:pic>
        <p:nvPicPr>
          <p:cNvPr id="12" name="Объект 12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0825" y="1628800"/>
            <a:ext cx="8621713" cy="376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114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>
          <a:xfrm>
            <a:off x="251520" y="6093295"/>
            <a:ext cx="8640000" cy="540000"/>
          </a:xfrm>
          <a:solidFill>
            <a:srgbClr val="E6E6E6"/>
          </a:solidFill>
        </p:spPr>
        <p:txBody>
          <a:bodyPr/>
          <a:lstStyle/>
          <a:p>
            <a:pPr algn="l"/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Разработка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автоматизированной книжной рекомендательной </a:t>
            </a: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системы</a:t>
            </a:r>
            <a:endParaRPr lang="ru-RU" sz="1400" dirty="0">
              <a:solidFill>
                <a:schemeClr val="tx1">
                  <a:lumMod val="50000"/>
                  <a:lumOff val="50000"/>
                </a:schemeClr>
              </a:solidFill>
              <a:latin typeface="Elektra Text Pro"/>
              <a:cs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342900"/>
            <a:ext cx="8640000" cy="720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355605"/>
            <a:ext cx="8640000" cy="720725"/>
          </a:xfrm>
          <a:solidFill>
            <a:srgbClr val="E6E6E6"/>
          </a:solidFill>
        </p:spPr>
        <p:txBody>
          <a:bodyPr>
            <a:noAutofit/>
          </a:bodyPr>
          <a:lstStyle/>
          <a:p>
            <a:pPr algn="ctr"/>
            <a:r>
              <a:rPr lang="ru-RU" sz="1800" b="1" dirty="0" smtClean="0">
                <a:latin typeface="Arial" pitchFamily="34" charset="0"/>
                <a:cs typeface="Arial" pitchFamily="34" charset="0"/>
              </a:rPr>
              <a:t>Заключение / Выводы</a:t>
            </a:r>
            <a:endParaRPr lang="ru-RU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268760"/>
            <a:ext cx="8640000" cy="461009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800" spc="-1" dirty="0">
                <a:solidFill>
                  <a:srgbClr val="000000"/>
                </a:solidFill>
                <a:latin typeface="Elektra Text Pro"/>
                <a:ea typeface="DejaVu Sans"/>
                <a:cs typeface="Arial" panose="020B0604020202020204" pitchFamily="34" charset="0"/>
              </a:rPr>
              <a:t>В результате разработки проекта были выполнены следующие задачи</a:t>
            </a:r>
            <a:r>
              <a:rPr lang="ru-RU" sz="1800" spc="-1" dirty="0" smtClean="0">
                <a:solidFill>
                  <a:srgbClr val="000000"/>
                </a:solidFill>
                <a:latin typeface="Elektra Text Pro"/>
                <a:ea typeface="DejaVu Sans"/>
                <a:cs typeface="Arial" panose="020B0604020202020204" pitchFamily="34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800" spc="-1" dirty="0">
              <a:latin typeface="Elektra Text Pro"/>
              <a:cs typeface="Arial" panose="020B0604020202020204" pitchFamily="34" charset="0"/>
            </a:endParaRPr>
          </a:p>
          <a:p>
            <a:pPr marL="714375" indent="-342900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ru-RU" sz="1800" spc="-1" dirty="0">
                <a:solidFill>
                  <a:srgbClr val="000000"/>
                </a:solidFill>
                <a:latin typeface="Elektra Text Pro"/>
                <a:ea typeface="DejaVu Sans"/>
                <a:cs typeface="Arial" panose="020B0604020202020204" pitchFamily="34" charset="0"/>
              </a:rPr>
              <a:t>Проведен анализ предметной области и изучены системы-аналоги.</a:t>
            </a:r>
          </a:p>
          <a:p>
            <a:pPr marL="714375" indent="-342900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ru-RU" sz="1800" dirty="0">
                <a:latin typeface="Elektra Text Pro"/>
                <a:cs typeface="Arial" panose="020B0604020202020204" pitchFamily="34" charset="0"/>
              </a:rPr>
              <a:t>Изучены методы построения рекомендательных систем</a:t>
            </a:r>
            <a:r>
              <a:rPr lang="ru-RU" sz="1800" spc="-1" dirty="0">
                <a:solidFill>
                  <a:srgbClr val="000000"/>
                </a:solidFill>
                <a:latin typeface="Elektra Text Pro"/>
                <a:ea typeface="DejaVu Sans"/>
                <a:cs typeface="Arial" panose="020B0604020202020204" pitchFamily="34" charset="0"/>
              </a:rPr>
              <a:t>.</a:t>
            </a:r>
            <a:endParaRPr lang="ru-RU" sz="1800" spc="-1" dirty="0">
              <a:latin typeface="Elektra Text Pro"/>
              <a:cs typeface="Arial" panose="020B0604020202020204" pitchFamily="34" charset="0"/>
            </a:endParaRPr>
          </a:p>
          <a:p>
            <a:pPr marL="714375" indent="-342900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ru-RU" sz="1800" spc="-1" dirty="0">
                <a:solidFill>
                  <a:srgbClr val="000000"/>
                </a:solidFill>
                <a:latin typeface="Elektra Text Pro"/>
                <a:ea typeface="DejaVu Sans"/>
                <a:cs typeface="Arial" panose="020B0604020202020204" pitchFamily="34" charset="0"/>
              </a:rPr>
              <a:t>Разработана структурная схема системы.</a:t>
            </a:r>
            <a:endParaRPr lang="ru-RU" sz="1800" spc="-1" dirty="0">
              <a:latin typeface="Elektra Text Pro"/>
              <a:cs typeface="Arial" panose="020B0604020202020204" pitchFamily="34" charset="0"/>
            </a:endParaRPr>
          </a:p>
          <a:p>
            <a:pPr marL="714375" indent="-342900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ru-RU" sz="1800" spc="-1" dirty="0">
                <a:solidFill>
                  <a:srgbClr val="000000"/>
                </a:solidFill>
                <a:latin typeface="Elektra Text Pro"/>
                <a:ea typeface="DejaVu Sans"/>
                <a:cs typeface="Arial" panose="020B0604020202020204" pitchFamily="34" charset="0"/>
              </a:rPr>
              <a:t>Разработан информационно-логический проект-системы.</a:t>
            </a:r>
            <a:endParaRPr lang="ru-RU" sz="1800" spc="-1" dirty="0">
              <a:latin typeface="Elektra Text Pro"/>
              <a:cs typeface="Arial" panose="020B0604020202020204" pitchFamily="34" charset="0"/>
            </a:endParaRPr>
          </a:p>
          <a:p>
            <a:pPr marL="714375" indent="-342900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ru-RU" sz="1800" spc="-1" dirty="0">
                <a:solidFill>
                  <a:srgbClr val="000000"/>
                </a:solidFill>
                <a:latin typeface="Elektra Text Pro"/>
                <a:ea typeface="DejaVu Sans"/>
                <a:cs typeface="Arial" panose="020B0604020202020204" pitchFamily="34" charset="0"/>
              </a:rPr>
              <a:t>Разработано программное обеспечение, произведены тестирование и отладка.</a:t>
            </a:r>
          </a:p>
          <a:p>
            <a:pPr marL="714375" indent="-342900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ru-RU" sz="1800" dirty="0">
                <a:latin typeface="Elektra Text Pro"/>
                <a:cs typeface="Arial" panose="020B0604020202020204" pitchFamily="34" charset="0"/>
              </a:rPr>
              <a:t>Произведена апробация системы.</a:t>
            </a:r>
            <a:endParaRPr lang="ru-RU" sz="1800" spc="-1" dirty="0">
              <a:latin typeface="Elektra Text Pro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00392" y="6165306"/>
            <a:ext cx="772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9A5D52-88F9-4971-91E7-95B02B6DE201}" type="slidenum">
              <a:rPr lang="ru-RU" smtClean="0"/>
              <a:pPr algn="r"/>
              <a:t>8</a:t>
            </a:fld>
            <a:r>
              <a:rPr lang="ru-RU" dirty="0" smtClean="0"/>
              <a:t>/ХХ</a:t>
            </a:r>
            <a:endParaRPr lang="ru-RU" dirty="0"/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1871221" y="5374803"/>
            <a:ext cx="5400598" cy="504056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 panose="02000503030000020004" pitchFamily="50" charset="-52"/>
              </a:rPr>
              <a:t>БЛАГОДАРЮ ЗА </a:t>
            </a:r>
            <a:r>
              <a:rPr lang="ru-RU" sz="1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 panose="02000503030000020004" pitchFamily="50" charset="-52"/>
              </a:rPr>
              <a:t>ВНИМАНИЕ!</a:t>
            </a:r>
            <a:endParaRPr lang="ru-RU" sz="1800" b="1" dirty="0">
              <a:solidFill>
                <a:schemeClr val="tx1">
                  <a:lumMod val="95000"/>
                  <a:lumOff val="5000"/>
                </a:schemeClr>
              </a:solidFill>
              <a:latin typeface="Elektra Text Pro" panose="0200050303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348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1432</TotalTime>
  <Words>284</Words>
  <Application>Microsoft Office PowerPoint</Application>
  <PresentationFormat>Экран (4:3)</PresentationFormat>
  <Paragraphs>66</Paragraphs>
  <Slides>8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DejaVu Sans</vt:lpstr>
      <vt:lpstr>Elektra Text Pro</vt:lpstr>
      <vt:lpstr>Тема Office</vt:lpstr>
      <vt:lpstr>Презентация PowerPoint</vt:lpstr>
      <vt:lpstr>НАЗВАНИЕ СЛАЙДА В 1 ИЛИ 2 СТРОКИ  ПРОПИСНЫЕ БУКВЫ, ПОЛУЖИРНЫЙ ШРИФТ 18 ПТ</vt:lpstr>
      <vt:lpstr>НАЗВАНИЕ СЛАЙДА В 1 СТРОКУ ПРОПИСНЫЕ БУКВЫ, П/Ж ШРИФТ 18 ПТ</vt:lpstr>
      <vt:lpstr>Презентация PowerPoint</vt:lpstr>
      <vt:lpstr>ПРИМЕР:   ПРЕДМЕТНАЯ ОБЛАСТЬ</vt:lpstr>
      <vt:lpstr>ПРИМЕР:   АНАЛИЗ ПРЕДМЕТНОЙ ОБЛАСТИ</vt:lpstr>
      <vt:lpstr>ПРИМЕР:   Диаграмма компонентов</vt:lpstr>
      <vt:lpstr>Заключение / 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Евгений Степанов</dc:creator>
  <cp:lastModifiedBy>A A</cp:lastModifiedBy>
  <cp:revision>70</cp:revision>
  <dcterms:created xsi:type="dcterms:W3CDTF">2016-03-09T10:31:39Z</dcterms:created>
  <dcterms:modified xsi:type="dcterms:W3CDTF">2025-06-24T04:43:01Z</dcterms:modified>
</cp:coreProperties>
</file>